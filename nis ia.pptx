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Open Sans Bold" charset="1" panose="00000000000000000000"/>
      <p:regular r:id="rId19"/>
    </p:embeddedFont>
    <p:embeddedFont>
      <p:font typeface="Open Sans" charset="1" panose="00000000000000000000"/>
      <p:regular r:id="rId20"/>
    </p:embeddedFont>
    <p:embeddedFont>
      <p:font typeface="Open Sans Bold Italics" charset="1" panose="00000000000000000000"/>
      <p:regular r:id="rId21"/>
    </p:embeddedFont>
    <p:embeddedFont>
      <p:font typeface="Open Sauce Bold" charset="1" panose="000008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grpSp>
        <p:nvGrpSpPr>
          <p:cNvPr name="Group 3" id="3"/>
          <p:cNvGrpSpPr/>
          <p:nvPr/>
        </p:nvGrpSpPr>
        <p:grpSpPr>
          <a:xfrm rot="566727">
            <a:off x="10895260" y="-4368833"/>
            <a:ext cx="11215742" cy="1121574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5" id="5"/>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6" id="6"/>
          <p:cNvGrpSpPr/>
          <p:nvPr/>
        </p:nvGrpSpPr>
        <p:grpSpPr>
          <a:xfrm rot="566727">
            <a:off x="12737741" y="-2526351"/>
            <a:ext cx="7530780" cy="75307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9" id="9"/>
          <p:cNvSpPr txBox="true"/>
          <p:nvPr/>
        </p:nvSpPr>
        <p:spPr>
          <a:xfrm rot="0">
            <a:off x="1659312" y="2209114"/>
            <a:ext cx="14843819" cy="7600695"/>
          </a:xfrm>
          <a:prstGeom prst="rect">
            <a:avLst/>
          </a:prstGeom>
        </p:spPr>
        <p:txBody>
          <a:bodyPr anchor="t" rtlCol="false" tIns="0" lIns="0" bIns="0" rIns="0">
            <a:spAutoFit/>
          </a:bodyPr>
          <a:lstStyle/>
          <a:p>
            <a:pPr algn="ctr">
              <a:lnSpc>
                <a:spcPts val="5789"/>
              </a:lnSpc>
            </a:pPr>
          </a:p>
          <a:p>
            <a:pPr algn="ctr">
              <a:lnSpc>
                <a:spcPts val="7469"/>
              </a:lnSpc>
              <a:spcBef>
                <a:spcPct val="0"/>
              </a:spcBef>
            </a:pPr>
            <a:r>
              <a:rPr lang="en-US" b="true" sz="5335" spc="-400">
                <a:solidFill>
                  <a:srgbClr val="FFFFFF"/>
                </a:solidFill>
                <a:latin typeface="Open Sans Bold"/>
                <a:ea typeface="Open Sans Bold"/>
                <a:cs typeface="Open Sans Bold"/>
                <a:sym typeface="Open Sans Bold"/>
              </a:rPr>
              <a:t> GlassWire: Netw</a:t>
            </a:r>
            <a:r>
              <a:rPr lang="en-US" b="true" sz="5335" spc="-400">
                <a:solidFill>
                  <a:srgbClr val="FFFFFF"/>
                </a:solidFill>
                <a:latin typeface="Open Sans Bold"/>
                <a:ea typeface="Open Sans Bold"/>
                <a:cs typeface="Open Sans Bold"/>
                <a:sym typeface="Open Sans Bold"/>
              </a:rPr>
              <a:t>ork Monitoring and Security Analysis</a:t>
            </a:r>
          </a:p>
          <a:p>
            <a:pPr algn="ctr">
              <a:lnSpc>
                <a:spcPts val="5789"/>
              </a:lnSpc>
              <a:spcBef>
                <a:spcPct val="0"/>
              </a:spcBef>
            </a:pPr>
            <a:r>
              <a:rPr lang="en-US" sz="4135" spc="-310">
                <a:solidFill>
                  <a:srgbClr val="FFFFFF"/>
                </a:solidFill>
                <a:latin typeface="Open Sans"/>
                <a:ea typeface="Open Sans"/>
                <a:cs typeface="Open Sans"/>
                <a:sym typeface="Open Sans"/>
              </a:rPr>
              <a:t>Network Information Security</a:t>
            </a:r>
          </a:p>
          <a:p>
            <a:pPr algn="ctr">
              <a:lnSpc>
                <a:spcPts val="5789"/>
              </a:lnSpc>
              <a:spcBef>
                <a:spcPct val="0"/>
              </a:spcBef>
            </a:pPr>
          </a:p>
          <a:p>
            <a:pPr algn="l">
              <a:lnSpc>
                <a:spcPts val="4949"/>
              </a:lnSpc>
              <a:spcBef>
                <a:spcPct val="0"/>
              </a:spcBef>
            </a:pPr>
            <a:r>
              <a:rPr lang="en-US" sz="3535" spc="-265">
                <a:solidFill>
                  <a:srgbClr val="FFFFFF"/>
                </a:solidFill>
                <a:latin typeface="Open Sans"/>
                <a:ea typeface="Open Sans"/>
                <a:cs typeface="Open Sans"/>
                <a:sym typeface="Open Sans"/>
              </a:rPr>
              <a:t>Group Members: </a:t>
            </a:r>
          </a:p>
          <a:p>
            <a:pPr algn="l">
              <a:lnSpc>
                <a:spcPts val="5789"/>
              </a:lnSpc>
              <a:spcBef>
                <a:spcPct val="0"/>
              </a:spcBef>
            </a:pPr>
            <a:r>
              <a:rPr lang="en-US" sz="4135" spc="-310">
                <a:solidFill>
                  <a:srgbClr val="FFFFFF"/>
                </a:solidFill>
                <a:latin typeface="Open Sans"/>
                <a:ea typeface="Open Sans"/>
                <a:cs typeface="Open Sans"/>
                <a:sym typeface="Open Sans"/>
              </a:rPr>
              <a:t> </a:t>
            </a:r>
            <a:r>
              <a:rPr lang="en-US" b="true" sz="4135" i="true" spc="-310">
                <a:solidFill>
                  <a:srgbClr val="FFFFFF"/>
                </a:solidFill>
                <a:latin typeface="Open Sans Bold Italics"/>
                <a:ea typeface="Open Sans Bold Italics"/>
                <a:cs typeface="Open Sans Bold Italics"/>
                <a:sym typeface="Open Sans Bold Italics"/>
              </a:rPr>
              <a:t>Anushri Bhaskarwar 16010123055</a:t>
            </a:r>
          </a:p>
          <a:p>
            <a:pPr algn="l">
              <a:lnSpc>
                <a:spcPts val="5789"/>
              </a:lnSpc>
              <a:spcBef>
                <a:spcPct val="0"/>
              </a:spcBef>
            </a:pPr>
            <a:r>
              <a:rPr lang="en-US" b="true" sz="4135" i="true" spc="-310">
                <a:solidFill>
                  <a:srgbClr val="FFFFFF"/>
                </a:solidFill>
                <a:latin typeface="Open Sans Bold Italics"/>
                <a:ea typeface="Open Sans Bold Italics"/>
                <a:cs typeface="Open Sans Bold Italics"/>
                <a:sym typeface="Open Sans Bold Italics"/>
              </a:rPr>
              <a:t>Siddhant Mane 16010123058</a:t>
            </a:r>
          </a:p>
          <a:p>
            <a:pPr algn="l">
              <a:lnSpc>
                <a:spcPts val="5789"/>
              </a:lnSpc>
              <a:spcBef>
                <a:spcPct val="0"/>
              </a:spcBef>
            </a:pPr>
            <a:r>
              <a:rPr lang="en-US" b="true" sz="4135" i="true" spc="-310">
                <a:solidFill>
                  <a:srgbClr val="FFFFFF"/>
                </a:solidFill>
                <a:latin typeface="Open Sans Bold Italics"/>
                <a:ea typeface="Open Sans Bold Italics"/>
                <a:cs typeface="Open Sans Bold Italics"/>
                <a:sym typeface="Open Sans Bold Italics"/>
              </a:rPr>
              <a:t>Akshat Kunder 16010123033</a:t>
            </a:r>
          </a:p>
          <a:p>
            <a:pPr algn="l">
              <a:lnSpc>
                <a:spcPts val="578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9278497">
            <a:off x="-5803234" y="-42054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2997112" y="-1545956"/>
            <a:ext cx="5213104" cy="52131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9" id="9"/>
          <p:cNvSpPr txBox="true"/>
          <p:nvPr/>
        </p:nvSpPr>
        <p:spPr>
          <a:xfrm rot="0">
            <a:off x="0" y="473918"/>
            <a:ext cx="6282581" cy="1192407"/>
          </a:xfrm>
          <a:prstGeom prst="rect">
            <a:avLst/>
          </a:prstGeom>
        </p:spPr>
        <p:txBody>
          <a:bodyPr anchor="t" rtlCol="false" tIns="0" lIns="0" bIns="0" rIns="0">
            <a:spAutoFit/>
          </a:bodyPr>
          <a:lstStyle/>
          <a:p>
            <a:pPr algn="r">
              <a:lnSpc>
                <a:spcPts val="9322"/>
              </a:lnSpc>
            </a:pPr>
            <a:r>
              <a:rPr lang="en-US" b="true" sz="7967" spc="-334">
                <a:solidFill>
                  <a:srgbClr val="FFFFFF"/>
                </a:solidFill>
                <a:latin typeface="Open Sauce Bold"/>
                <a:ea typeface="Open Sauce Bold"/>
                <a:cs typeface="Open Sauce Bold"/>
                <a:sym typeface="Open Sauce Bold"/>
              </a:rPr>
              <a:t>Introduction</a:t>
            </a:r>
          </a:p>
        </p:txBody>
      </p:sp>
      <p:grpSp>
        <p:nvGrpSpPr>
          <p:cNvPr name="Group 10" id="10"/>
          <p:cNvGrpSpPr/>
          <p:nvPr/>
        </p:nvGrpSpPr>
        <p:grpSpPr>
          <a:xfrm rot="0">
            <a:off x="326798" y="1989304"/>
            <a:ext cx="17605484" cy="7954786"/>
            <a:chOff x="0" y="0"/>
            <a:chExt cx="6626751" cy="2994202"/>
          </a:xfrm>
        </p:grpSpPr>
        <p:sp>
          <p:nvSpPr>
            <p:cNvPr name="Freeform 11" id="11"/>
            <p:cNvSpPr/>
            <p:nvPr/>
          </p:nvSpPr>
          <p:spPr>
            <a:xfrm flipH="false" flipV="false" rot="0">
              <a:off x="0" y="0"/>
              <a:ext cx="6626751" cy="2994202"/>
            </a:xfrm>
            <a:custGeom>
              <a:avLst/>
              <a:gdLst/>
              <a:ahLst/>
              <a:cxnLst/>
              <a:rect r="r" b="b" t="t" l="l"/>
              <a:pathLst>
                <a:path h="2994202" w="6626751">
                  <a:moveTo>
                    <a:pt x="22427" y="0"/>
                  </a:moveTo>
                  <a:lnTo>
                    <a:pt x="6604323" y="0"/>
                  </a:lnTo>
                  <a:cubicBezTo>
                    <a:pt x="6610272" y="0"/>
                    <a:pt x="6615976" y="2363"/>
                    <a:pt x="6620182" y="6569"/>
                  </a:cubicBezTo>
                  <a:cubicBezTo>
                    <a:pt x="6624388" y="10775"/>
                    <a:pt x="6626751" y="16479"/>
                    <a:pt x="6626751" y="22427"/>
                  </a:cubicBezTo>
                  <a:lnTo>
                    <a:pt x="6626751" y="2971775"/>
                  </a:lnTo>
                  <a:cubicBezTo>
                    <a:pt x="6626751" y="2984161"/>
                    <a:pt x="6616709" y="2994202"/>
                    <a:pt x="6604323" y="2994202"/>
                  </a:cubicBezTo>
                  <a:lnTo>
                    <a:pt x="22427" y="2994202"/>
                  </a:lnTo>
                  <a:cubicBezTo>
                    <a:pt x="10041" y="2994202"/>
                    <a:pt x="0" y="2984161"/>
                    <a:pt x="0" y="2971775"/>
                  </a:cubicBezTo>
                  <a:lnTo>
                    <a:pt x="0" y="22427"/>
                  </a:lnTo>
                  <a:cubicBezTo>
                    <a:pt x="0" y="10041"/>
                    <a:pt x="10041" y="0"/>
                    <a:pt x="22427" y="0"/>
                  </a:cubicBezTo>
                  <a:close/>
                </a:path>
              </a:pathLst>
            </a:custGeom>
            <a:gradFill rotWithShape="true">
              <a:gsLst>
                <a:gs pos="0">
                  <a:srgbClr val="C55CD1">
                    <a:alpha val="62000"/>
                  </a:srgbClr>
                </a:gs>
                <a:gs pos="100000">
                  <a:srgbClr val="923ACD">
                    <a:alpha val="62000"/>
                  </a:srgbClr>
                </a:gs>
              </a:gsLst>
              <a:lin ang="2700000"/>
            </a:gradFill>
            <a:ln w="19050" cap="rnd">
              <a:solidFill>
                <a:srgbClr val="FFFFFF">
                  <a:alpha val="61961"/>
                </a:srgbClr>
              </a:solidFill>
              <a:prstDash val="solid"/>
              <a:round/>
            </a:ln>
          </p:spPr>
        </p:sp>
        <p:sp>
          <p:nvSpPr>
            <p:cNvPr name="TextBox 12" id="12"/>
            <p:cNvSpPr txBox="true"/>
            <p:nvPr/>
          </p:nvSpPr>
          <p:spPr>
            <a:xfrm>
              <a:off x="0" y="85725"/>
              <a:ext cx="6626751" cy="2908477"/>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3" id="13"/>
          <p:cNvSpPr txBox="true"/>
          <p:nvPr/>
        </p:nvSpPr>
        <p:spPr>
          <a:xfrm rot="0">
            <a:off x="1028700" y="2220205"/>
            <a:ext cx="16618365" cy="7623565"/>
          </a:xfrm>
          <a:prstGeom prst="rect">
            <a:avLst/>
          </a:prstGeom>
        </p:spPr>
        <p:txBody>
          <a:bodyPr anchor="t" rtlCol="false" tIns="0" lIns="0" bIns="0" rIns="0">
            <a:spAutoFit/>
          </a:bodyPr>
          <a:lstStyle/>
          <a:p>
            <a:pPr algn="l">
              <a:lnSpc>
                <a:spcPts val="4353"/>
              </a:lnSpc>
            </a:pPr>
            <a:r>
              <a:rPr lang="en-US" sz="3109" spc="-233" b="true">
                <a:solidFill>
                  <a:srgbClr val="FFFFFF"/>
                </a:solidFill>
                <a:latin typeface="Open Sans Bold"/>
                <a:ea typeface="Open Sans Bold"/>
                <a:cs typeface="Open Sans Bold"/>
                <a:sym typeface="Open Sans Bold"/>
              </a:rPr>
              <a:t>Applications continuously communicate with remote servers for updates, cloud services, and background operations. Without proper monitoring, users may remain unaware of network usage or suspicious activity.</a:t>
            </a:r>
          </a:p>
          <a:p>
            <a:pPr algn="l">
              <a:lnSpc>
                <a:spcPts val="4353"/>
              </a:lnSpc>
            </a:pPr>
          </a:p>
          <a:p>
            <a:pPr algn="l">
              <a:lnSpc>
                <a:spcPts val="4353"/>
              </a:lnSpc>
            </a:pPr>
            <a:r>
              <a:rPr lang="en-US" sz="3109" spc="-233" b="true">
                <a:solidFill>
                  <a:srgbClr val="FFFFFF"/>
                </a:solidFill>
                <a:latin typeface="Open Sans Bold"/>
                <a:ea typeface="Open Sans Bold"/>
                <a:cs typeface="Open Sans Bold"/>
                <a:sym typeface="Open Sans Bold"/>
              </a:rPr>
              <a:t>GlassWire is a graphical network monitoring and security analysis tool that provides real-time visibility into internet activity, application bandwidth usage, remote hosts, and connected devices. It also shows country-wise traffic and alerts for first-time network activity.</a:t>
            </a:r>
          </a:p>
          <a:p>
            <a:pPr algn="l">
              <a:lnSpc>
                <a:spcPts val="4353"/>
              </a:lnSpc>
            </a:pPr>
          </a:p>
          <a:p>
            <a:pPr algn="l">
              <a:lnSpc>
                <a:spcPts val="4353"/>
              </a:lnSpc>
            </a:pPr>
            <a:r>
              <a:rPr lang="en-US" sz="3109" spc="-233" b="true">
                <a:solidFill>
                  <a:srgbClr val="FFFFFF"/>
                </a:solidFill>
                <a:latin typeface="Open Sans Bold"/>
                <a:ea typeface="Open Sans Bold"/>
                <a:cs typeface="Open Sans Bold"/>
                <a:sym typeface="Open Sans Bold"/>
              </a:rPr>
              <a:t>I</a:t>
            </a:r>
            <a:r>
              <a:rPr lang="en-US" sz="3109" spc="-233" b="true">
                <a:solidFill>
                  <a:srgbClr val="FFFFFF"/>
                </a:solidFill>
                <a:latin typeface="Open Sans Bold"/>
                <a:ea typeface="Open Sans Bold"/>
                <a:cs typeface="Open Sans Bold"/>
                <a:sym typeface="Open Sans Bold"/>
              </a:rPr>
              <a:t>n this experiment, GlassWire was installed on a Windows system and features like Traffic Monitor, Log Analysis, Firewall, Network Scanner, and Hardware Resources were explored. The tool identified high bandwidth usage, detected connected devices, and visualized network activity.</a:t>
            </a:r>
          </a:p>
          <a:p>
            <a:pPr algn="l">
              <a:lnSpc>
                <a:spcPts val="4353"/>
              </a:lnSpc>
            </a:pPr>
          </a:p>
          <a:p>
            <a:pPr algn="l">
              <a:lnSpc>
                <a:spcPts val="4353"/>
              </a:lnSpc>
            </a:pPr>
            <a:r>
              <a:rPr lang="en-US" sz="3109" spc="-233" b="true">
                <a:solidFill>
                  <a:srgbClr val="FFFFFF"/>
                </a:solidFill>
                <a:latin typeface="Open Sans Bold"/>
                <a:ea typeface="Open Sans Bold"/>
                <a:cs typeface="Open Sans Bold"/>
                <a:sym typeface="Open Sans Bold"/>
              </a:rPr>
              <a:t>GlassWire improves security awareness and provides effective network monitoring and analysis.</a:t>
            </a:r>
          </a:p>
          <a:p>
            <a:pPr algn="l">
              <a:lnSpc>
                <a:spcPts val="3653"/>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true" rot="-5400000">
            <a:off x="2956852" y="6991105"/>
            <a:ext cx="4029852" cy="798643"/>
          </a:xfrm>
          <a:custGeom>
            <a:avLst/>
            <a:gdLst/>
            <a:ahLst/>
            <a:cxnLst/>
            <a:rect r="r" b="b" t="t" l="l"/>
            <a:pathLst>
              <a:path h="798643" w="4029852">
                <a:moveTo>
                  <a:pt x="0" y="798643"/>
                </a:moveTo>
                <a:lnTo>
                  <a:pt x="4029852" y="798643"/>
                </a:lnTo>
                <a:lnTo>
                  <a:pt x="4029852" y="0"/>
                </a:lnTo>
                <a:lnTo>
                  <a:pt x="0" y="0"/>
                </a:lnTo>
                <a:lnTo>
                  <a:pt x="0" y="798643"/>
                </a:lnTo>
                <a:close/>
              </a:path>
            </a:pathLst>
          </a:custGeom>
          <a:blipFill>
            <a:blip r:embed="rId3">
              <a:alphaModFix amt="56000"/>
            </a:blip>
            <a:stretch>
              <a:fillRect l="0" t="0" r="0" b="0"/>
            </a:stretch>
          </a:blipFill>
        </p:spPr>
      </p:sp>
      <p:sp>
        <p:nvSpPr>
          <p:cNvPr name="Freeform 4" id="4"/>
          <p:cNvSpPr/>
          <p:nvPr/>
        </p:nvSpPr>
        <p:spPr>
          <a:xfrm flipH="false" flipV="true" rot="-5400000">
            <a:off x="8948515" y="6991105"/>
            <a:ext cx="4029852" cy="798643"/>
          </a:xfrm>
          <a:custGeom>
            <a:avLst/>
            <a:gdLst/>
            <a:ahLst/>
            <a:cxnLst/>
            <a:rect r="r" b="b" t="t" l="l"/>
            <a:pathLst>
              <a:path h="798643" w="4029852">
                <a:moveTo>
                  <a:pt x="0" y="798643"/>
                </a:moveTo>
                <a:lnTo>
                  <a:pt x="4029852" y="798643"/>
                </a:lnTo>
                <a:lnTo>
                  <a:pt x="4029852" y="0"/>
                </a:lnTo>
                <a:lnTo>
                  <a:pt x="0" y="0"/>
                </a:lnTo>
                <a:lnTo>
                  <a:pt x="0" y="798643"/>
                </a:lnTo>
                <a:close/>
              </a:path>
            </a:pathLst>
          </a:custGeom>
          <a:blipFill>
            <a:blip r:embed="rId3">
              <a:alphaModFix amt="56000"/>
            </a:blip>
            <a:stretch>
              <a:fillRect l="0" t="0" r="0" b="0"/>
            </a:stretch>
          </a:blipFill>
        </p:spPr>
      </p:sp>
      <p:sp>
        <p:nvSpPr>
          <p:cNvPr name="Freeform 5" id="5"/>
          <p:cNvSpPr/>
          <p:nvPr/>
        </p:nvSpPr>
        <p:spPr>
          <a:xfrm flipH="false" flipV="true" rot="-10800000">
            <a:off x="4682729" y="5151555"/>
            <a:ext cx="5725382" cy="1134667"/>
          </a:xfrm>
          <a:custGeom>
            <a:avLst/>
            <a:gdLst/>
            <a:ahLst/>
            <a:cxnLst/>
            <a:rect r="r" b="b" t="t" l="l"/>
            <a:pathLst>
              <a:path h="1134667" w="5725382">
                <a:moveTo>
                  <a:pt x="0" y="1134666"/>
                </a:moveTo>
                <a:lnTo>
                  <a:pt x="5725382" y="1134666"/>
                </a:lnTo>
                <a:lnTo>
                  <a:pt x="5725382" y="0"/>
                </a:lnTo>
                <a:lnTo>
                  <a:pt x="0" y="0"/>
                </a:lnTo>
                <a:lnTo>
                  <a:pt x="0" y="1134666"/>
                </a:lnTo>
                <a:close/>
              </a:path>
            </a:pathLst>
          </a:custGeom>
          <a:blipFill>
            <a:blip r:embed="rId3">
              <a:alphaModFix amt="56000"/>
            </a:blip>
            <a:stretch>
              <a:fillRect l="0" t="0" r="0" b="0"/>
            </a:stretch>
          </a:blipFill>
        </p:spPr>
      </p:sp>
      <p:grpSp>
        <p:nvGrpSpPr>
          <p:cNvPr name="Group 6" id="6"/>
          <p:cNvGrpSpPr/>
          <p:nvPr/>
        </p:nvGrpSpPr>
        <p:grpSpPr>
          <a:xfrm rot="0">
            <a:off x="540948" y="1977673"/>
            <a:ext cx="17141770" cy="6831972"/>
            <a:chOff x="0" y="0"/>
            <a:chExt cx="6452208" cy="2571572"/>
          </a:xfrm>
        </p:grpSpPr>
        <p:sp>
          <p:nvSpPr>
            <p:cNvPr name="Freeform 7" id="7"/>
            <p:cNvSpPr/>
            <p:nvPr/>
          </p:nvSpPr>
          <p:spPr>
            <a:xfrm flipH="false" flipV="false" rot="0">
              <a:off x="0" y="0"/>
              <a:ext cx="6452208" cy="2571572"/>
            </a:xfrm>
            <a:custGeom>
              <a:avLst/>
              <a:gdLst/>
              <a:ahLst/>
              <a:cxnLst/>
              <a:rect r="r" b="b" t="t" l="l"/>
              <a:pathLst>
                <a:path h="2571572" w="6452208">
                  <a:moveTo>
                    <a:pt x="23034" y="0"/>
                  </a:moveTo>
                  <a:lnTo>
                    <a:pt x="6429174" y="0"/>
                  </a:lnTo>
                  <a:cubicBezTo>
                    <a:pt x="6441895" y="0"/>
                    <a:pt x="6452208" y="10313"/>
                    <a:pt x="6452208" y="23034"/>
                  </a:cubicBezTo>
                  <a:lnTo>
                    <a:pt x="6452208" y="2548539"/>
                  </a:lnTo>
                  <a:cubicBezTo>
                    <a:pt x="6452208" y="2561260"/>
                    <a:pt x="6441895" y="2571572"/>
                    <a:pt x="6429174" y="2571572"/>
                  </a:cubicBezTo>
                  <a:lnTo>
                    <a:pt x="23034" y="2571572"/>
                  </a:lnTo>
                  <a:cubicBezTo>
                    <a:pt x="10313" y="2571572"/>
                    <a:pt x="0" y="2561260"/>
                    <a:pt x="0" y="2548539"/>
                  </a:cubicBezTo>
                  <a:lnTo>
                    <a:pt x="0" y="23034"/>
                  </a:lnTo>
                  <a:cubicBezTo>
                    <a:pt x="0" y="10313"/>
                    <a:pt x="10313" y="0"/>
                    <a:pt x="23034" y="0"/>
                  </a:cubicBezTo>
                  <a:close/>
                </a:path>
              </a:pathLst>
            </a:custGeom>
            <a:gradFill rotWithShape="true">
              <a:gsLst>
                <a:gs pos="0">
                  <a:srgbClr val="FFFFFF">
                    <a:alpha val="77000"/>
                  </a:srgbClr>
                </a:gs>
                <a:gs pos="100000">
                  <a:srgbClr val="DBD8D8">
                    <a:alpha val="77000"/>
                  </a:srgbClr>
                </a:gs>
              </a:gsLst>
              <a:lin ang="5400000"/>
            </a:gradFill>
            <a:ln w="19050" cap="rnd">
              <a:gradFill>
                <a:gsLst>
                  <a:gs pos="0">
                    <a:srgbClr val="C55CD1">
                      <a:alpha val="77000"/>
                    </a:srgbClr>
                  </a:gs>
                  <a:gs pos="100000">
                    <a:srgbClr val="923ACD">
                      <a:alpha val="77000"/>
                    </a:srgbClr>
                  </a:gs>
                </a:gsLst>
                <a:lin ang="2700000"/>
              </a:gradFill>
              <a:prstDash val="solid"/>
              <a:round/>
            </a:ln>
          </p:spPr>
        </p:sp>
        <p:sp>
          <p:nvSpPr>
            <p:cNvPr name="TextBox 8" id="8"/>
            <p:cNvSpPr txBox="true"/>
            <p:nvPr/>
          </p:nvSpPr>
          <p:spPr>
            <a:xfrm>
              <a:off x="0" y="85725"/>
              <a:ext cx="6452208" cy="2485847"/>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9278497">
            <a:off x="12218214" y="-6527792"/>
            <a:ext cx="9966661" cy="99666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11" id="11"/>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2" id="12"/>
          <p:cNvGrpSpPr/>
          <p:nvPr/>
        </p:nvGrpSpPr>
        <p:grpSpPr>
          <a:xfrm rot="-9278497">
            <a:off x="14620041" y="-3792460"/>
            <a:ext cx="5213104" cy="521310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5" id="15"/>
          <p:cNvSpPr txBox="true"/>
          <p:nvPr/>
        </p:nvSpPr>
        <p:spPr>
          <a:xfrm rot="0">
            <a:off x="6089375" y="344109"/>
            <a:ext cx="6109250" cy="1397756"/>
          </a:xfrm>
          <a:prstGeom prst="rect">
            <a:avLst/>
          </a:prstGeom>
        </p:spPr>
        <p:txBody>
          <a:bodyPr anchor="t" rtlCol="false" tIns="0" lIns="0" bIns="0" rIns="0">
            <a:spAutoFit/>
          </a:bodyPr>
          <a:lstStyle/>
          <a:p>
            <a:pPr algn="l">
              <a:lnSpc>
                <a:spcPts val="10957"/>
              </a:lnSpc>
            </a:pPr>
            <a:r>
              <a:rPr lang="en-US" b="true" sz="9365" spc="-393">
                <a:solidFill>
                  <a:srgbClr val="FFFFFF"/>
                </a:solidFill>
                <a:latin typeface="Open Sauce Bold"/>
                <a:ea typeface="Open Sauce Bold"/>
                <a:cs typeface="Open Sauce Bold"/>
                <a:sym typeface="Open Sauce Bold"/>
              </a:rPr>
              <a:t>Objectives</a:t>
            </a:r>
          </a:p>
        </p:txBody>
      </p:sp>
      <p:sp>
        <p:nvSpPr>
          <p:cNvPr name="TextBox 16" id="16"/>
          <p:cNvSpPr txBox="true"/>
          <p:nvPr/>
        </p:nvSpPr>
        <p:spPr>
          <a:xfrm rot="0">
            <a:off x="1015325" y="2768043"/>
            <a:ext cx="12739536" cy="5911215"/>
          </a:xfrm>
          <a:prstGeom prst="rect">
            <a:avLst/>
          </a:prstGeom>
        </p:spPr>
        <p:txBody>
          <a:bodyPr anchor="t" rtlCol="false" tIns="0" lIns="0" bIns="0" rIns="0">
            <a:spAutoFit/>
          </a:bodyPr>
          <a:lstStyle/>
          <a:p>
            <a:pPr algn="l">
              <a:lnSpc>
                <a:spcPts val="4679"/>
              </a:lnSpc>
            </a:pPr>
            <a:r>
              <a:rPr lang="en-US" sz="3999" spc="-167" b="true">
                <a:solidFill>
                  <a:srgbClr val="0E0637"/>
                </a:solidFill>
                <a:latin typeface="Open Sauce Bold"/>
                <a:ea typeface="Open Sauce Bold"/>
                <a:cs typeface="Open Sauce Bold"/>
                <a:sym typeface="Open Sauce Bold"/>
              </a:rPr>
              <a:t>• To study the working of GlassWire</a:t>
            </a:r>
          </a:p>
          <a:p>
            <a:pPr algn="l">
              <a:lnSpc>
                <a:spcPts val="4679"/>
              </a:lnSpc>
            </a:pPr>
            <a:r>
              <a:rPr lang="en-US" sz="3999" spc="-167" b="true">
                <a:solidFill>
                  <a:srgbClr val="0E0637"/>
                </a:solidFill>
                <a:latin typeface="Open Sauce Bold"/>
                <a:ea typeface="Open Sauce Bold"/>
                <a:cs typeface="Open Sauce Bold"/>
                <a:sym typeface="Open Sauce Bold"/>
              </a:rPr>
              <a:t> • To monitor real-time network traffic</a:t>
            </a:r>
          </a:p>
          <a:p>
            <a:pPr algn="l">
              <a:lnSpc>
                <a:spcPts val="4679"/>
              </a:lnSpc>
            </a:pPr>
            <a:r>
              <a:rPr lang="en-US" sz="3999" spc="-167" b="true">
                <a:solidFill>
                  <a:srgbClr val="0E0637"/>
                </a:solidFill>
                <a:latin typeface="Open Sauce Bold"/>
                <a:ea typeface="Open Sauce Bold"/>
                <a:cs typeface="Open Sauce Bold"/>
                <a:sym typeface="Open Sauce Bold"/>
              </a:rPr>
              <a:t> • To identify high bandwidth-consuming applications</a:t>
            </a:r>
          </a:p>
          <a:p>
            <a:pPr algn="l">
              <a:lnSpc>
                <a:spcPts val="4679"/>
              </a:lnSpc>
            </a:pPr>
            <a:r>
              <a:rPr lang="en-US" sz="3999" spc="-167" b="true">
                <a:solidFill>
                  <a:srgbClr val="0E0637"/>
                </a:solidFill>
                <a:latin typeface="Open Sauce Bold"/>
                <a:ea typeface="Open Sauce Bold"/>
                <a:cs typeface="Open Sauce Bold"/>
                <a:sym typeface="Open Sauce Bold"/>
              </a:rPr>
              <a:t> • To inspect remote hosts and IP addresses</a:t>
            </a:r>
          </a:p>
          <a:p>
            <a:pPr algn="l">
              <a:lnSpc>
                <a:spcPts val="4679"/>
              </a:lnSpc>
            </a:pPr>
            <a:r>
              <a:rPr lang="en-US" sz="3999" spc="-167" b="true">
                <a:solidFill>
                  <a:srgbClr val="0E0637"/>
                </a:solidFill>
                <a:latin typeface="Open Sauce Bold"/>
                <a:ea typeface="Open Sauce Bold"/>
                <a:cs typeface="Open Sauce Bold"/>
                <a:sym typeface="Open Sauce Bold"/>
              </a:rPr>
              <a:t> • To observe alerts for first-time network activity</a:t>
            </a:r>
          </a:p>
          <a:p>
            <a:pPr algn="l">
              <a:lnSpc>
                <a:spcPts val="4679"/>
              </a:lnSpc>
            </a:pPr>
            <a:r>
              <a:rPr lang="en-US" sz="3999" spc="-167" b="true">
                <a:solidFill>
                  <a:srgbClr val="0E0637"/>
                </a:solidFill>
                <a:latin typeface="Open Sauce Bold"/>
                <a:ea typeface="Open Sauce Bold"/>
                <a:cs typeface="Open Sauce Bold"/>
                <a:sym typeface="Open Sauce Bold"/>
              </a:rPr>
              <a:t> • To understand GlassWire Protect firewall view</a:t>
            </a:r>
          </a:p>
          <a:p>
            <a:pPr algn="l">
              <a:lnSpc>
                <a:spcPts val="4679"/>
              </a:lnSpc>
            </a:pPr>
            <a:r>
              <a:rPr lang="en-US" sz="3999" spc="-167" b="true">
                <a:solidFill>
                  <a:srgbClr val="0E0637"/>
                </a:solidFill>
                <a:latin typeface="Open Sauce Bold"/>
                <a:ea typeface="Open Sauce Bold"/>
                <a:cs typeface="Open Sauce Bold"/>
                <a:sym typeface="Open Sauce Bold"/>
              </a:rPr>
              <a:t> • To detect devices connected to local network</a:t>
            </a:r>
          </a:p>
          <a:p>
            <a:pPr algn="l">
              <a:lnSpc>
                <a:spcPts val="4679"/>
              </a:lnSpc>
            </a:pPr>
            <a:r>
              <a:rPr lang="en-US" sz="3999" spc="-167" b="true">
                <a:solidFill>
                  <a:srgbClr val="0E0637"/>
                </a:solidFill>
                <a:latin typeface="Open Sauce Bold"/>
                <a:ea typeface="Open Sauce Bold"/>
                <a:cs typeface="Open Sauce Bold"/>
                <a:sym typeface="Open Sauce Bold"/>
              </a:rPr>
              <a:t> • To monitor CPU, memory, disk, and GPU usage</a:t>
            </a:r>
          </a:p>
          <a:p>
            <a:pPr algn="l">
              <a:lnSpc>
                <a:spcPts val="4679"/>
              </a:lnSpc>
            </a:pPr>
            <a:r>
              <a:rPr lang="en-US" sz="3999" spc="-167" b="true">
                <a:solidFill>
                  <a:srgbClr val="0E0637"/>
                </a:solidFill>
                <a:latin typeface="Open Sauce Bold"/>
                <a:ea typeface="Open Sauce Bold"/>
                <a:cs typeface="Open Sauce Bold"/>
                <a:sym typeface="Open Sauce Bold"/>
              </a:rPr>
              <a:t> • To evaluate GlassWire for security monitoring</a:t>
            </a:r>
          </a:p>
          <a:p>
            <a:pPr algn="l">
              <a:lnSpc>
                <a:spcPts val="467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8768940">
            <a:off x="-1315101" y="-4221648"/>
            <a:ext cx="20918202" cy="18730295"/>
          </a:xfrm>
          <a:custGeom>
            <a:avLst/>
            <a:gdLst/>
            <a:ahLst/>
            <a:cxnLst/>
            <a:rect r="r" b="b" t="t" l="l"/>
            <a:pathLst>
              <a:path h="18730295" w="20918202">
                <a:moveTo>
                  <a:pt x="15187984" y="0"/>
                </a:moveTo>
                <a:lnTo>
                  <a:pt x="0" y="10187054"/>
                </a:lnTo>
                <a:lnTo>
                  <a:pt x="5730218" y="18730296"/>
                </a:lnTo>
                <a:lnTo>
                  <a:pt x="20918202" y="8543242"/>
                </a:lnTo>
                <a:lnTo>
                  <a:pt x="15187984" y="0"/>
                </a:lnTo>
                <a:close/>
              </a:path>
            </a:pathLst>
          </a:custGeom>
          <a:blipFill>
            <a:blip r:embed="rId2"/>
            <a:stretch>
              <a:fillRect l="-2753" t="0" r="-31641" b="0"/>
            </a:stretch>
          </a:blipFill>
        </p:spPr>
      </p:sp>
      <p:grpSp>
        <p:nvGrpSpPr>
          <p:cNvPr name="Group 3" id="3"/>
          <p:cNvGrpSpPr/>
          <p:nvPr/>
        </p:nvGrpSpPr>
        <p:grpSpPr>
          <a:xfrm rot="-8457765">
            <a:off x="-425717" y="-9272866"/>
            <a:ext cx="19140231" cy="1914023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8457765">
            <a:off x="2148368" y="-6538878"/>
            <a:ext cx="13929461" cy="139294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259579" y="2416653"/>
            <a:ext cx="5737104" cy="6841647"/>
            <a:chOff x="0" y="0"/>
            <a:chExt cx="2159461" cy="2575214"/>
          </a:xfrm>
        </p:grpSpPr>
        <p:sp>
          <p:nvSpPr>
            <p:cNvPr name="Freeform 10" id="10"/>
            <p:cNvSpPr/>
            <p:nvPr/>
          </p:nvSpPr>
          <p:spPr>
            <a:xfrm flipH="false" flipV="false" rot="0">
              <a:off x="0" y="0"/>
              <a:ext cx="2159461" cy="2575214"/>
            </a:xfrm>
            <a:custGeom>
              <a:avLst/>
              <a:gdLst/>
              <a:ahLst/>
              <a:cxnLst/>
              <a:rect r="r" b="b" t="t" l="l"/>
              <a:pathLst>
                <a:path h="2575214" w="2159461">
                  <a:moveTo>
                    <a:pt x="68822" y="0"/>
                  </a:moveTo>
                  <a:lnTo>
                    <a:pt x="2090639" y="0"/>
                  </a:lnTo>
                  <a:cubicBezTo>
                    <a:pt x="2128648" y="0"/>
                    <a:pt x="2159461" y="30813"/>
                    <a:pt x="2159461" y="68822"/>
                  </a:cubicBezTo>
                  <a:lnTo>
                    <a:pt x="2159461" y="2506392"/>
                  </a:lnTo>
                  <a:cubicBezTo>
                    <a:pt x="2159461" y="2544401"/>
                    <a:pt x="2128648" y="2575214"/>
                    <a:pt x="2090639" y="2575214"/>
                  </a:cubicBezTo>
                  <a:lnTo>
                    <a:pt x="68822" y="2575214"/>
                  </a:lnTo>
                  <a:cubicBezTo>
                    <a:pt x="50569" y="2575214"/>
                    <a:pt x="33064" y="2567963"/>
                    <a:pt x="20157" y="2555057"/>
                  </a:cubicBezTo>
                  <a:cubicBezTo>
                    <a:pt x="7251" y="2542150"/>
                    <a:pt x="0" y="2524645"/>
                    <a:pt x="0" y="2506392"/>
                  </a:cubicBezTo>
                  <a:lnTo>
                    <a:pt x="0" y="68822"/>
                  </a:lnTo>
                  <a:cubicBezTo>
                    <a:pt x="0" y="30813"/>
                    <a:pt x="30813" y="0"/>
                    <a:pt x="68822" y="0"/>
                  </a:cubicBezTo>
                  <a:close/>
                </a:path>
              </a:pathLst>
            </a:custGeom>
            <a:gradFill rotWithShape="true">
              <a:gsLst>
                <a:gs pos="0">
                  <a:srgbClr val="FFFFFF">
                    <a:alpha val="100000"/>
                  </a:srgbClr>
                </a:gs>
                <a:gs pos="100000">
                  <a:srgbClr val="DBD8D8">
                    <a:alpha val="100000"/>
                  </a:srgbClr>
                </a:gs>
              </a:gsLst>
              <a:lin ang="5400000"/>
            </a:gradFill>
            <a:ln w="19050" cap="rnd">
              <a:gradFill>
                <a:gsLst>
                  <a:gs pos="0">
                    <a:srgbClr val="FFFFFF">
                      <a:alpha val="100000"/>
                    </a:srgbClr>
                  </a:gs>
                  <a:gs pos="100000">
                    <a:srgbClr val="DBD8D8">
                      <a:alpha val="100000"/>
                    </a:srgbClr>
                  </a:gs>
                </a:gsLst>
                <a:lin ang="5400000"/>
              </a:gradFill>
              <a:prstDash val="solid"/>
              <a:round/>
            </a:ln>
          </p:spPr>
        </p:sp>
        <p:sp>
          <p:nvSpPr>
            <p:cNvPr name="TextBox 11" id="11"/>
            <p:cNvSpPr txBox="true"/>
            <p:nvPr/>
          </p:nvSpPr>
          <p:spPr>
            <a:xfrm>
              <a:off x="0" y="85725"/>
              <a:ext cx="2159461" cy="2489489"/>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2" id="12"/>
          <p:cNvGrpSpPr/>
          <p:nvPr/>
        </p:nvGrpSpPr>
        <p:grpSpPr>
          <a:xfrm rot="0">
            <a:off x="6340206" y="2474774"/>
            <a:ext cx="5608917" cy="6841647"/>
            <a:chOff x="0" y="0"/>
            <a:chExt cx="2111211" cy="2575214"/>
          </a:xfrm>
        </p:grpSpPr>
        <p:sp>
          <p:nvSpPr>
            <p:cNvPr name="Freeform 13" id="13"/>
            <p:cNvSpPr/>
            <p:nvPr/>
          </p:nvSpPr>
          <p:spPr>
            <a:xfrm flipH="false" flipV="false" rot="0">
              <a:off x="0" y="0"/>
              <a:ext cx="2111211" cy="2575214"/>
            </a:xfrm>
            <a:custGeom>
              <a:avLst/>
              <a:gdLst/>
              <a:ahLst/>
              <a:cxnLst/>
              <a:rect r="r" b="b" t="t" l="l"/>
              <a:pathLst>
                <a:path h="2575214" w="2111211">
                  <a:moveTo>
                    <a:pt x="70395" y="0"/>
                  </a:moveTo>
                  <a:lnTo>
                    <a:pt x="2040816" y="0"/>
                  </a:lnTo>
                  <a:cubicBezTo>
                    <a:pt x="2079694" y="0"/>
                    <a:pt x="2111211" y="31517"/>
                    <a:pt x="2111211" y="70395"/>
                  </a:cubicBezTo>
                  <a:lnTo>
                    <a:pt x="2111211" y="2504819"/>
                  </a:lnTo>
                  <a:cubicBezTo>
                    <a:pt x="2111211" y="2543697"/>
                    <a:pt x="2079694" y="2575214"/>
                    <a:pt x="2040816" y="2575214"/>
                  </a:cubicBezTo>
                  <a:lnTo>
                    <a:pt x="70395" y="2575214"/>
                  </a:lnTo>
                  <a:cubicBezTo>
                    <a:pt x="31517" y="2575214"/>
                    <a:pt x="0" y="2543697"/>
                    <a:pt x="0" y="2504819"/>
                  </a:cubicBezTo>
                  <a:lnTo>
                    <a:pt x="0" y="70395"/>
                  </a:lnTo>
                  <a:cubicBezTo>
                    <a:pt x="0" y="31517"/>
                    <a:pt x="31517" y="0"/>
                    <a:pt x="70395" y="0"/>
                  </a:cubicBezTo>
                  <a:close/>
                </a:path>
              </a:pathLst>
            </a:custGeom>
            <a:gradFill rotWithShape="true">
              <a:gsLst>
                <a:gs pos="0">
                  <a:srgbClr val="F5B4FF">
                    <a:alpha val="100000"/>
                  </a:srgbClr>
                </a:gs>
                <a:gs pos="100000">
                  <a:srgbClr val="E393EF">
                    <a:alpha val="100000"/>
                  </a:srgbClr>
                </a:gs>
              </a:gsLst>
              <a:lin ang="0"/>
            </a:gradFill>
            <a:ln w="19050" cap="rnd">
              <a:solidFill>
                <a:srgbClr val="FFFFFF"/>
              </a:solidFill>
              <a:prstDash val="solid"/>
              <a:round/>
            </a:ln>
          </p:spPr>
        </p:sp>
        <p:sp>
          <p:nvSpPr>
            <p:cNvPr name="TextBox 14" id="14"/>
            <p:cNvSpPr txBox="true"/>
            <p:nvPr/>
          </p:nvSpPr>
          <p:spPr>
            <a:xfrm>
              <a:off x="0" y="85725"/>
              <a:ext cx="2111211" cy="2489489"/>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5" id="15"/>
          <p:cNvGrpSpPr/>
          <p:nvPr/>
        </p:nvGrpSpPr>
        <p:grpSpPr>
          <a:xfrm rot="0">
            <a:off x="12388787" y="2416653"/>
            <a:ext cx="5511448" cy="6841647"/>
            <a:chOff x="0" y="0"/>
            <a:chExt cx="2074524" cy="2575214"/>
          </a:xfrm>
        </p:grpSpPr>
        <p:sp>
          <p:nvSpPr>
            <p:cNvPr name="Freeform 16" id="16"/>
            <p:cNvSpPr/>
            <p:nvPr/>
          </p:nvSpPr>
          <p:spPr>
            <a:xfrm flipH="false" flipV="false" rot="0">
              <a:off x="0" y="0"/>
              <a:ext cx="2074524" cy="2575214"/>
            </a:xfrm>
            <a:custGeom>
              <a:avLst/>
              <a:gdLst/>
              <a:ahLst/>
              <a:cxnLst/>
              <a:rect r="r" b="b" t="t" l="l"/>
              <a:pathLst>
                <a:path h="2575214" w="2074524">
                  <a:moveTo>
                    <a:pt x="71640" y="0"/>
                  </a:moveTo>
                  <a:lnTo>
                    <a:pt x="2002884" y="0"/>
                  </a:lnTo>
                  <a:cubicBezTo>
                    <a:pt x="2042449" y="0"/>
                    <a:pt x="2074524" y="32074"/>
                    <a:pt x="2074524" y="71640"/>
                  </a:cubicBezTo>
                  <a:lnTo>
                    <a:pt x="2074524" y="2503575"/>
                  </a:lnTo>
                  <a:cubicBezTo>
                    <a:pt x="2074524" y="2543140"/>
                    <a:pt x="2042449" y="2575214"/>
                    <a:pt x="2002884" y="2575214"/>
                  </a:cubicBezTo>
                  <a:lnTo>
                    <a:pt x="71640" y="2575214"/>
                  </a:lnTo>
                  <a:cubicBezTo>
                    <a:pt x="32074" y="2575214"/>
                    <a:pt x="0" y="2543140"/>
                    <a:pt x="0" y="2503575"/>
                  </a:cubicBezTo>
                  <a:lnTo>
                    <a:pt x="0" y="71640"/>
                  </a:lnTo>
                  <a:cubicBezTo>
                    <a:pt x="0" y="32074"/>
                    <a:pt x="32074" y="0"/>
                    <a:pt x="71640" y="0"/>
                  </a:cubicBezTo>
                  <a:close/>
                </a:path>
              </a:pathLst>
            </a:custGeom>
            <a:gradFill rotWithShape="true">
              <a:gsLst>
                <a:gs pos="0">
                  <a:srgbClr val="9245C4">
                    <a:alpha val="100000"/>
                  </a:srgbClr>
                </a:gs>
                <a:gs pos="100000">
                  <a:srgbClr val="AD64DD">
                    <a:alpha val="100000"/>
                  </a:srgbClr>
                </a:gs>
              </a:gsLst>
              <a:lin ang="0"/>
            </a:gradFill>
            <a:ln w="19050" cap="rnd">
              <a:solidFill>
                <a:srgbClr val="FFFFFF"/>
              </a:solidFill>
              <a:prstDash val="solid"/>
              <a:round/>
            </a:ln>
          </p:spPr>
        </p:sp>
        <p:sp>
          <p:nvSpPr>
            <p:cNvPr name="TextBox 17" id="17"/>
            <p:cNvSpPr txBox="true"/>
            <p:nvPr/>
          </p:nvSpPr>
          <p:spPr>
            <a:xfrm>
              <a:off x="0" y="85725"/>
              <a:ext cx="2074524" cy="2489489"/>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8" id="18"/>
          <p:cNvSpPr txBox="true"/>
          <p:nvPr/>
        </p:nvSpPr>
        <p:spPr>
          <a:xfrm rot="0">
            <a:off x="574626" y="2787029"/>
            <a:ext cx="5106308" cy="6088951"/>
          </a:xfrm>
          <a:prstGeom prst="rect">
            <a:avLst/>
          </a:prstGeom>
        </p:spPr>
        <p:txBody>
          <a:bodyPr anchor="t" rtlCol="false" tIns="0" lIns="0" bIns="0" rIns="0">
            <a:spAutoFit/>
          </a:bodyPr>
          <a:lstStyle/>
          <a:p>
            <a:pPr algn="l">
              <a:lnSpc>
                <a:spcPts val="4328"/>
              </a:lnSpc>
            </a:pPr>
            <a:r>
              <a:rPr lang="en-US" sz="3699" spc="-155" b="true">
                <a:solidFill>
                  <a:srgbClr val="0E0637"/>
                </a:solidFill>
                <a:latin typeface="Open Sauce Bold"/>
                <a:ea typeface="Open Sauce Bold"/>
                <a:cs typeface="Open Sauce Bold"/>
                <a:sym typeface="Open Sauce Bold"/>
              </a:rPr>
              <a:t>Traffic Monitor Feature</a:t>
            </a:r>
          </a:p>
          <a:p>
            <a:pPr algn="l">
              <a:lnSpc>
                <a:spcPts val="1638"/>
              </a:lnSpc>
            </a:pPr>
          </a:p>
          <a:p>
            <a:pPr algn="l">
              <a:lnSpc>
                <a:spcPts val="3041"/>
              </a:lnSpc>
            </a:pPr>
            <a:r>
              <a:rPr lang="en-US" sz="2599" spc="-109" b="true">
                <a:solidFill>
                  <a:srgbClr val="0E0637"/>
                </a:solidFill>
                <a:latin typeface="Open Sauce Bold"/>
                <a:ea typeface="Open Sauce Bold"/>
                <a:cs typeface="Open Sauce Bold"/>
                <a:sym typeface="Open Sauce Bold"/>
              </a:rPr>
              <a:t>Traffic Monitor provid</a:t>
            </a:r>
            <a:r>
              <a:rPr lang="en-US" sz="2599" spc="-109" b="true">
                <a:solidFill>
                  <a:srgbClr val="0E0637"/>
                </a:solidFill>
                <a:latin typeface="Open Sauce Bold"/>
                <a:ea typeface="Open Sauce Bold"/>
                <a:cs typeface="Open Sauce Bold"/>
                <a:sym typeface="Open Sauce Bold"/>
              </a:rPr>
              <a:t>es real-time visibility into:</a:t>
            </a:r>
          </a:p>
          <a:p>
            <a:pPr algn="l">
              <a:lnSpc>
                <a:spcPts val="3041"/>
              </a:lnSpc>
            </a:pPr>
            <a:r>
              <a:rPr lang="en-US" sz="2599" spc="-109" b="true">
                <a:solidFill>
                  <a:srgbClr val="0E0637"/>
                </a:solidFill>
                <a:latin typeface="Open Sauce Bold"/>
                <a:ea typeface="Open Sauce Bold"/>
                <a:cs typeface="Open Sauce Bold"/>
                <a:sym typeface="Open Sauce Bold"/>
              </a:rPr>
              <a:t>• Applications using internet</a:t>
            </a:r>
          </a:p>
          <a:p>
            <a:pPr algn="l">
              <a:lnSpc>
                <a:spcPts val="3041"/>
              </a:lnSpc>
            </a:pPr>
            <a:r>
              <a:rPr lang="en-US" sz="2599" spc="-109" b="true">
                <a:solidFill>
                  <a:srgbClr val="0E0637"/>
                </a:solidFill>
                <a:latin typeface="Open Sauce Bold"/>
                <a:ea typeface="Open Sauce Bold"/>
                <a:cs typeface="Open Sauce Bold"/>
                <a:sym typeface="Open Sauce Bold"/>
              </a:rPr>
              <a:t> • Hosts contacted</a:t>
            </a:r>
          </a:p>
          <a:p>
            <a:pPr algn="l">
              <a:lnSpc>
                <a:spcPts val="3041"/>
              </a:lnSpc>
            </a:pPr>
            <a:r>
              <a:rPr lang="en-US" sz="2599" spc="-109" b="true">
                <a:solidFill>
                  <a:srgbClr val="0E0637"/>
                </a:solidFill>
                <a:latin typeface="Open Sauce Bold"/>
                <a:ea typeface="Open Sauce Bold"/>
                <a:cs typeface="Open Sauce Bold"/>
                <a:sym typeface="Open Sauce Bold"/>
              </a:rPr>
              <a:t> • Traffic types (HTTPS, DNS, mDNS)</a:t>
            </a:r>
          </a:p>
          <a:p>
            <a:pPr algn="l">
              <a:lnSpc>
                <a:spcPts val="3041"/>
              </a:lnSpc>
            </a:pPr>
            <a:r>
              <a:rPr lang="en-US" sz="2599" spc="-109" b="true">
                <a:solidFill>
                  <a:srgbClr val="0E0637"/>
                </a:solidFill>
                <a:latin typeface="Open Sauce Bold"/>
                <a:ea typeface="Open Sauce Bold"/>
                <a:cs typeface="Open Sauce Bold"/>
                <a:sym typeface="Open Sauce Bold"/>
              </a:rPr>
              <a:t> • Countries involved</a:t>
            </a:r>
          </a:p>
          <a:p>
            <a:pPr algn="l">
              <a:lnSpc>
                <a:spcPts val="3041"/>
              </a:lnSpc>
            </a:pPr>
            <a:r>
              <a:rPr lang="en-US" sz="2599" spc="-109" b="true">
                <a:solidFill>
                  <a:srgbClr val="0E0637"/>
                </a:solidFill>
                <a:latin typeface="Open Sauce Bold"/>
                <a:ea typeface="Open Sauce Bold"/>
                <a:cs typeface="Open Sauce Bold"/>
                <a:sym typeface="Open Sauce Bold"/>
              </a:rPr>
              <a:t> • Bandwidth spikes</a:t>
            </a:r>
          </a:p>
          <a:p>
            <a:pPr algn="l">
              <a:lnSpc>
                <a:spcPts val="3041"/>
              </a:lnSpc>
            </a:pPr>
          </a:p>
          <a:p>
            <a:pPr algn="l">
              <a:lnSpc>
                <a:spcPts val="3041"/>
              </a:lnSpc>
            </a:pPr>
            <a:r>
              <a:rPr lang="en-US" sz="2599" spc="-109" b="true">
                <a:solidFill>
                  <a:srgbClr val="0E0637"/>
                </a:solidFill>
                <a:latin typeface="Open Sauce Bold"/>
                <a:ea typeface="Open Sauce Bold"/>
                <a:cs typeface="Open Sauce Bold"/>
                <a:sym typeface="Open Sauce Bold"/>
              </a:rPr>
              <a:t>Benefits:</a:t>
            </a:r>
          </a:p>
          <a:p>
            <a:pPr algn="l">
              <a:lnSpc>
                <a:spcPts val="3041"/>
              </a:lnSpc>
            </a:pPr>
            <a:r>
              <a:rPr lang="en-US" sz="2599" spc="-109" b="true">
                <a:solidFill>
                  <a:srgbClr val="0E0637"/>
                </a:solidFill>
                <a:latin typeface="Open Sauce Bold"/>
                <a:ea typeface="Open Sauce Bold"/>
                <a:cs typeface="Open Sauce Bold"/>
                <a:sym typeface="Open Sauce Bold"/>
              </a:rPr>
              <a:t>• Identifies high data usage</a:t>
            </a:r>
          </a:p>
          <a:p>
            <a:pPr algn="l">
              <a:lnSpc>
                <a:spcPts val="3041"/>
              </a:lnSpc>
            </a:pPr>
            <a:r>
              <a:rPr lang="en-US" sz="2599" spc="-109" b="true">
                <a:solidFill>
                  <a:srgbClr val="0E0637"/>
                </a:solidFill>
                <a:latin typeface="Open Sauce Bold"/>
                <a:ea typeface="Open Sauce Bold"/>
                <a:cs typeface="Open Sauce Bold"/>
                <a:sym typeface="Open Sauce Bold"/>
              </a:rPr>
              <a:t> • Detects suspicious activity</a:t>
            </a:r>
          </a:p>
          <a:p>
            <a:pPr algn="l">
              <a:lnSpc>
                <a:spcPts val="3041"/>
              </a:lnSpc>
            </a:pPr>
            <a:r>
              <a:rPr lang="en-US" sz="2599" spc="-109" b="true">
                <a:solidFill>
                  <a:srgbClr val="0E0637"/>
                </a:solidFill>
                <a:latin typeface="Open Sauce Bold"/>
                <a:ea typeface="Open Sauce Bold"/>
                <a:cs typeface="Open Sauce Bold"/>
                <a:sym typeface="Open Sauce Bold"/>
              </a:rPr>
              <a:t> • Visual traffic monitoring</a:t>
            </a:r>
          </a:p>
          <a:p>
            <a:pPr algn="l">
              <a:lnSpc>
                <a:spcPts val="3041"/>
              </a:lnSpc>
            </a:pPr>
          </a:p>
        </p:txBody>
      </p:sp>
      <p:sp>
        <p:nvSpPr>
          <p:cNvPr name="TextBox 19" id="19"/>
          <p:cNvSpPr txBox="true"/>
          <p:nvPr/>
        </p:nvSpPr>
        <p:spPr>
          <a:xfrm rot="0">
            <a:off x="12647385" y="2757038"/>
            <a:ext cx="4358746" cy="6679215"/>
          </a:xfrm>
          <a:prstGeom prst="rect">
            <a:avLst/>
          </a:prstGeom>
        </p:spPr>
        <p:txBody>
          <a:bodyPr anchor="t" rtlCol="false" tIns="0" lIns="0" bIns="0" rIns="0">
            <a:spAutoFit/>
          </a:bodyPr>
          <a:lstStyle/>
          <a:p>
            <a:pPr algn="l">
              <a:lnSpc>
                <a:spcPts val="3890"/>
              </a:lnSpc>
            </a:pPr>
            <a:r>
              <a:rPr lang="en-US" sz="3324" spc="-139" b="true">
                <a:solidFill>
                  <a:srgbClr val="FFFFFF"/>
                </a:solidFill>
                <a:latin typeface="Open Sauce Bold"/>
                <a:ea typeface="Open Sauce Bold"/>
                <a:cs typeface="Open Sauce Bold"/>
                <a:sym typeface="Open Sauce Bold"/>
              </a:rPr>
              <a:t>GlassWire Protect Firewall</a:t>
            </a:r>
          </a:p>
          <a:p>
            <a:pPr algn="l">
              <a:lnSpc>
                <a:spcPts val="3890"/>
              </a:lnSpc>
            </a:pPr>
          </a:p>
          <a:p>
            <a:pPr algn="l">
              <a:lnSpc>
                <a:spcPts val="3188"/>
              </a:lnSpc>
            </a:pPr>
            <a:r>
              <a:rPr lang="en-US" sz="2724" spc="-114" b="true">
                <a:solidFill>
                  <a:srgbClr val="FFFFFF"/>
                </a:solidFill>
                <a:latin typeface="Open Sauce Bold"/>
                <a:ea typeface="Open Sauce Bold"/>
                <a:cs typeface="Open Sauce Bold"/>
                <a:sym typeface="Open Sauce Bold"/>
              </a:rPr>
              <a:t>GlassWire Protect shows:</a:t>
            </a:r>
          </a:p>
          <a:p>
            <a:pPr algn="l">
              <a:lnSpc>
                <a:spcPts val="3188"/>
              </a:lnSpc>
            </a:pPr>
            <a:r>
              <a:rPr lang="en-US" sz="2724" spc="-114" b="true">
                <a:solidFill>
                  <a:srgbClr val="FFFFFF"/>
                </a:solidFill>
                <a:latin typeface="Open Sauce Bold"/>
                <a:ea typeface="Open Sauce Bold"/>
                <a:cs typeface="Open Sauce Bold"/>
                <a:sym typeface="Open Sauce Bold"/>
              </a:rPr>
              <a:t>• Active applications</a:t>
            </a:r>
          </a:p>
          <a:p>
            <a:pPr algn="l">
              <a:lnSpc>
                <a:spcPts val="3188"/>
              </a:lnSpc>
            </a:pPr>
            <a:r>
              <a:rPr lang="en-US" sz="2724" spc="-114" b="true">
                <a:solidFill>
                  <a:srgbClr val="FFFFFF"/>
                </a:solidFill>
                <a:latin typeface="Open Sauce Bold"/>
                <a:ea typeface="Open Sauce Bold"/>
                <a:cs typeface="Open Sauce Bold"/>
                <a:sym typeface="Open Sauce Bold"/>
              </a:rPr>
              <a:t> • Allowed / blocked connections</a:t>
            </a:r>
          </a:p>
          <a:p>
            <a:pPr algn="l">
              <a:lnSpc>
                <a:spcPts val="3188"/>
              </a:lnSpc>
            </a:pPr>
            <a:r>
              <a:rPr lang="en-US" sz="2724" spc="-114" b="true">
                <a:solidFill>
                  <a:srgbClr val="FFFFFF"/>
                </a:solidFill>
                <a:latin typeface="Open Sauce Bold"/>
                <a:ea typeface="Open Sauce Bold"/>
                <a:cs typeface="Open Sauce Bold"/>
                <a:sym typeface="Open Sauce Bold"/>
              </a:rPr>
              <a:t> • Inbound / outbound traffic</a:t>
            </a:r>
          </a:p>
          <a:p>
            <a:pPr algn="l">
              <a:lnSpc>
                <a:spcPts val="3188"/>
              </a:lnSpc>
            </a:pPr>
            <a:r>
              <a:rPr lang="en-US" sz="2724" spc="-114" b="true">
                <a:solidFill>
                  <a:srgbClr val="FFFFFF"/>
                </a:solidFill>
                <a:latin typeface="Open Sauce Bold"/>
                <a:ea typeface="Open Sauce Bold"/>
                <a:cs typeface="Open Sauce Bold"/>
                <a:sym typeface="Open Sauce Bold"/>
              </a:rPr>
              <a:t> • Host information</a:t>
            </a:r>
          </a:p>
          <a:p>
            <a:pPr algn="l">
              <a:lnSpc>
                <a:spcPts val="3188"/>
              </a:lnSpc>
            </a:pPr>
          </a:p>
          <a:p>
            <a:pPr algn="l">
              <a:lnSpc>
                <a:spcPts val="3188"/>
              </a:lnSpc>
            </a:pPr>
            <a:r>
              <a:rPr lang="en-US" sz="2724" spc="-114" b="true">
                <a:solidFill>
                  <a:srgbClr val="FFFFFF"/>
                </a:solidFill>
                <a:latin typeface="Open Sauce Bold"/>
                <a:ea typeface="Open Sauce Bold"/>
                <a:cs typeface="Open Sauce Bold"/>
                <a:sym typeface="Open Sauce Bold"/>
              </a:rPr>
              <a:t>Free version limitations:</a:t>
            </a:r>
          </a:p>
          <a:p>
            <a:pPr algn="l">
              <a:lnSpc>
                <a:spcPts val="3188"/>
              </a:lnSpc>
            </a:pPr>
            <a:r>
              <a:rPr lang="en-US" sz="2724" spc="-114" b="true">
                <a:solidFill>
                  <a:srgbClr val="FFFFFF"/>
                </a:solidFill>
                <a:latin typeface="Open Sauce Bold"/>
                <a:ea typeface="Open Sauce Bold"/>
                <a:cs typeface="Open Sauce Bold"/>
                <a:sym typeface="Open Sauce Bold"/>
              </a:rPr>
              <a:t>• Limited blocking controls</a:t>
            </a:r>
          </a:p>
          <a:p>
            <a:pPr algn="l">
              <a:lnSpc>
                <a:spcPts val="3188"/>
              </a:lnSpc>
            </a:pPr>
            <a:r>
              <a:rPr lang="en-US" sz="2724" spc="-114" b="true">
                <a:solidFill>
                  <a:srgbClr val="FFFFFF"/>
                </a:solidFill>
                <a:latin typeface="Open Sauce Bold"/>
                <a:ea typeface="Open Sauce Bold"/>
                <a:cs typeface="Open Sauce Bold"/>
                <a:sym typeface="Open Sauce Bold"/>
              </a:rPr>
              <a:t> • Premium features restricted</a:t>
            </a:r>
          </a:p>
          <a:p>
            <a:pPr algn="l">
              <a:lnSpc>
                <a:spcPts val="3305"/>
              </a:lnSpc>
            </a:pPr>
          </a:p>
        </p:txBody>
      </p:sp>
      <p:sp>
        <p:nvSpPr>
          <p:cNvPr name="TextBox 20" id="20"/>
          <p:cNvSpPr txBox="true"/>
          <p:nvPr/>
        </p:nvSpPr>
        <p:spPr>
          <a:xfrm rot="0">
            <a:off x="6596580" y="2796554"/>
            <a:ext cx="5352543" cy="5947352"/>
          </a:xfrm>
          <a:prstGeom prst="rect">
            <a:avLst/>
          </a:prstGeom>
        </p:spPr>
        <p:txBody>
          <a:bodyPr anchor="t" rtlCol="false" tIns="0" lIns="0" bIns="0" rIns="0">
            <a:spAutoFit/>
          </a:bodyPr>
          <a:lstStyle/>
          <a:p>
            <a:pPr algn="l">
              <a:lnSpc>
                <a:spcPts val="4223"/>
              </a:lnSpc>
            </a:pPr>
            <a:r>
              <a:rPr lang="en-US" sz="3609" spc="-151" b="true">
                <a:solidFill>
                  <a:srgbClr val="0E0637"/>
                </a:solidFill>
                <a:latin typeface="Open Sauce Bold"/>
                <a:ea typeface="Open Sauce Bold"/>
                <a:cs typeface="Open Sauce Bold"/>
                <a:sym typeface="Open Sauce Bold"/>
              </a:rPr>
              <a:t>Log Analysis Feature</a:t>
            </a:r>
          </a:p>
          <a:p>
            <a:pPr algn="l">
              <a:lnSpc>
                <a:spcPts val="4223"/>
              </a:lnSpc>
            </a:pPr>
          </a:p>
          <a:p>
            <a:pPr algn="l">
              <a:lnSpc>
                <a:spcPts val="3462"/>
              </a:lnSpc>
            </a:pPr>
            <a:r>
              <a:rPr lang="en-US" sz="2959" spc="-124" b="true">
                <a:solidFill>
                  <a:srgbClr val="0E0637"/>
                </a:solidFill>
                <a:latin typeface="Open Sauce Bold"/>
                <a:ea typeface="Open Sauce Bold"/>
                <a:cs typeface="Open Sauce Bold"/>
                <a:sym typeface="Open Sauce Bold"/>
              </a:rPr>
              <a:t>Log Analysis records:</a:t>
            </a:r>
          </a:p>
          <a:p>
            <a:pPr algn="l">
              <a:lnSpc>
                <a:spcPts val="3462"/>
              </a:lnSpc>
            </a:pPr>
            <a:r>
              <a:rPr lang="en-US" sz="2959" spc="-124" b="true">
                <a:solidFill>
                  <a:srgbClr val="0E0637"/>
                </a:solidFill>
                <a:latin typeface="Open Sauce Bold"/>
                <a:ea typeface="Open Sauce Bold"/>
                <a:cs typeface="Open Sauce Bold"/>
                <a:sym typeface="Open Sauce Bold"/>
              </a:rPr>
              <a:t>• First-time n</a:t>
            </a:r>
            <a:r>
              <a:rPr lang="en-US" sz="2959" spc="-124" b="true">
                <a:solidFill>
                  <a:srgbClr val="0E0637"/>
                </a:solidFill>
                <a:latin typeface="Open Sauce Bold"/>
                <a:ea typeface="Open Sauce Bold"/>
                <a:cs typeface="Open Sauce Bold"/>
                <a:sym typeface="Open Sauce Bold"/>
              </a:rPr>
              <a:t>etwork activity</a:t>
            </a:r>
          </a:p>
          <a:p>
            <a:pPr algn="l">
              <a:lnSpc>
                <a:spcPts val="3462"/>
              </a:lnSpc>
            </a:pPr>
            <a:r>
              <a:rPr lang="en-US" sz="2959" spc="-124" b="true">
                <a:solidFill>
                  <a:srgbClr val="0E0637"/>
                </a:solidFill>
                <a:latin typeface="Open Sauce Bold"/>
                <a:ea typeface="Open Sauce Bold"/>
                <a:cs typeface="Open Sauce Bold"/>
                <a:sym typeface="Open Sauce Bold"/>
              </a:rPr>
              <a:t> • New network connections</a:t>
            </a:r>
          </a:p>
          <a:p>
            <a:pPr algn="l">
              <a:lnSpc>
                <a:spcPts val="3462"/>
              </a:lnSpc>
            </a:pPr>
            <a:r>
              <a:rPr lang="en-US" sz="2959" spc="-124" b="true">
                <a:solidFill>
                  <a:srgbClr val="0E0637"/>
                </a:solidFill>
                <a:latin typeface="Open Sauce Bold"/>
                <a:ea typeface="Open Sauce Bold"/>
                <a:cs typeface="Open Sauce Bold"/>
                <a:sym typeface="Open Sauce Bold"/>
              </a:rPr>
              <a:t> • Background communication</a:t>
            </a:r>
          </a:p>
          <a:p>
            <a:pPr algn="l">
              <a:lnSpc>
                <a:spcPts val="3462"/>
              </a:lnSpc>
            </a:pPr>
          </a:p>
          <a:p>
            <a:pPr algn="l">
              <a:lnSpc>
                <a:spcPts val="3462"/>
              </a:lnSpc>
            </a:pPr>
            <a:r>
              <a:rPr lang="en-US" sz="2959" spc="-124" b="true">
                <a:solidFill>
                  <a:srgbClr val="0E0637"/>
                </a:solidFill>
                <a:latin typeface="Open Sauce Bold"/>
                <a:ea typeface="Open Sauce Bold"/>
                <a:cs typeface="Open Sauce Bold"/>
                <a:sym typeface="Open Sauce Bold"/>
              </a:rPr>
              <a:t>Benefits:</a:t>
            </a:r>
          </a:p>
          <a:p>
            <a:pPr algn="l">
              <a:lnSpc>
                <a:spcPts val="3462"/>
              </a:lnSpc>
            </a:pPr>
            <a:r>
              <a:rPr lang="en-US" sz="2959" spc="-124" b="true">
                <a:solidFill>
                  <a:srgbClr val="0E0637"/>
                </a:solidFill>
                <a:latin typeface="Open Sauce Bold"/>
                <a:ea typeface="Open Sauce Bold"/>
                <a:cs typeface="Open Sauce Bold"/>
                <a:sym typeface="Open Sauce Bold"/>
              </a:rPr>
              <a:t>• Detects unknown applications</a:t>
            </a:r>
          </a:p>
          <a:p>
            <a:pPr algn="l">
              <a:lnSpc>
                <a:spcPts val="3462"/>
              </a:lnSpc>
            </a:pPr>
            <a:r>
              <a:rPr lang="en-US" sz="2959" spc="-124" b="true">
                <a:solidFill>
                  <a:srgbClr val="0E0637"/>
                </a:solidFill>
                <a:latin typeface="Open Sauce Bold"/>
                <a:ea typeface="Open Sauce Bold"/>
                <a:cs typeface="Open Sauce Bold"/>
                <a:sym typeface="Open Sauce Bold"/>
              </a:rPr>
              <a:t> • Monitors network access</a:t>
            </a:r>
          </a:p>
          <a:p>
            <a:pPr algn="l">
              <a:lnSpc>
                <a:spcPts val="3462"/>
              </a:lnSpc>
            </a:pPr>
            <a:r>
              <a:rPr lang="en-US" sz="2959" spc="-124" b="true">
                <a:solidFill>
                  <a:srgbClr val="0E0637"/>
                </a:solidFill>
                <a:latin typeface="Open Sauce Bold"/>
                <a:ea typeface="Open Sauce Bold"/>
                <a:cs typeface="Open Sauce Bold"/>
                <a:sym typeface="Open Sauce Bold"/>
              </a:rPr>
              <a:t> • Provides timestamped logs</a:t>
            </a:r>
          </a:p>
          <a:p>
            <a:pPr algn="l">
              <a:lnSpc>
                <a:spcPts val="3930"/>
              </a:lnSpc>
            </a:pPr>
          </a:p>
        </p:txBody>
      </p:sp>
      <p:sp>
        <p:nvSpPr>
          <p:cNvPr name="TextBox 21" id="21"/>
          <p:cNvSpPr txBox="true"/>
          <p:nvPr/>
        </p:nvSpPr>
        <p:spPr>
          <a:xfrm rot="0">
            <a:off x="1028700" y="836906"/>
            <a:ext cx="11239962" cy="1260731"/>
          </a:xfrm>
          <a:prstGeom prst="rect">
            <a:avLst/>
          </a:prstGeom>
        </p:spPr>
        <p:txBody>
          <a:bodyPr anchor="t" rtlCol="false" tIns="0" lIns="0" bIns="0" rIns="0">
            <a:spAutoFit/>
          </a:bodyPr>
          <a:lstStyle/>
          <a:p>
            <a:pPr algn="l">
              <a:lnSpc>
                <a:spcPts val="9828"/>
              </a:lnSpc>
            </a:pPr>
            <a:r>
              <a:rPr lang="en-US" b="true" sz="8400" spc="-352">
                <a:solidFill>
                  <a:srgbClr val="FFFFFF"/>
                </a:solidFill>
                <a:latin typeface="Open Sauce Bold"/>
                <a:ea typeface="Open Sauce Bold"/>
                <a:cs typeface="Open Sauce Bold"/>
                <a:sym typeface="Open Sauce Bold"/>
              </a:rPr>
              <a:t>Features of  Glasswire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8463395">
            <a:off x="-1200863" y="-4604429"/>
            <a:ext cx="20689726" cy="19495858"/>
          </a:xfrm>
          <a:custGeom>
            <a:avLst/>
            <a:gdLst/>
            <a:ahLst/>
            <a:cxnLst/>
            <a:rect r="r" b="b" t="t" l="l"/>
            <a:pathLst>
              <a:path h="19495858" w="20689726">
                <a:moveTo>
                  <a:pt x="6465919" y="19495858"/>
                </a:moveTo>
                <a:lnTo>
                  <a:pt x="20689726" y="8000892"/>
                </a:lnTo>
                <a:lnTo>
                  <a:pt x="14223807" y="0"/>
                </a:lnTo>
                <a:lnTo>
                  <a:pt x="0" y="11494966"/>
                </a:lnTo>
                <a:lnTo>
                  <a:pt x="6465919" y="19495858"/>
                </a:lnTo>
                <a:close/>
              </a:path>
            </a:pathLst>
          </a:custGeom>
          <a:blipFill>
            <a:blip r:embed="rId2"/>
            <a:stretch>
              <a:fillRect l="-4483" t="0" r="-36949" b="0"/>
            </a:stretch>
          </a:blipFill>
        </p:spPr>
      </p:sp>
      <p:grpSp>
        <p:nvGrpSpPr>
          <p:cNvPr name="Group 3" id="3"/>
          <p:cNvGrpSpPr/>
          <p:nvPr/>
        </p:nvGrpSpPr>
        <p:grpSpPr>
          <a:xfrm rot="-8457765">
            <a:off x="-425717" y="-9272866"/>
            <a:ext cx="19140231" cy="1914023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8457765">
            <a:off x="2148368" y="-6538878"/>
            <a:ext cx="13929461" cy="139294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2101896" y="2416653"/>
            <a:ext cx="5737104" cy="6841647"/>
            <a:chOff x="0" y="0"/>
            <a:chExt cx="2159461" cy="2575214"/>
          </a:xfrm>
        </p:grpSpPr>
        <p:sp>
          <p:nvSpPr>
            <p:cNvPr name="Freeform 10" id="10"/>
            <p:cNvSpPr/>
            <p:nvPr/>
          </p:nvSpPr>
          <p:spPr>
            <a:xfrm flipH="false" flipV="false" rot="0">
              <a:off x="0" y="0"/>
              <a:ext cx="2159461" cy="2575214"/>
            </a:xfrm>
            <a:custGeom>
              <a:avLst/>
              <a:gdLst/>
              <a:ahLst/>
              <a:cxnLst/>
              <a:rect r="r" b="b" t="t" l="l"/>
              <a:pathLst>
                <a:path h="2575214" w="2159461">
                  <a:moveTo>
                    <a:pt x="68822" y="0"/>
                  </a:moveTo>
                  <a:lnTo>
                    <a:pt x="2090639" y="0"/>
                  </a:lnTo>
                  <a:cubicBezTo>
                    <a:pt x="2128648" y="0"/>
                    <a:pt x="2159461" y="30813"/>
                    <a:pt x="2159461" y="68822"/>
                  </a:cubicBezTo>
                  <a:lnTo>
                    <a:pt x="2159461" y="2506392"/>
                  </a:lnTo>
                  <a:cubicBezTo>
                    <a:pt x="2159461" y="2544401"/>
                    <a:pt x="2128648" y="2575214"/>
                    <a:pt x="2090639" y="2575214"/>
                  </a:cubicBezTo>
                  <a:lnTo>
                    <a:pt x="68822" y="2575214"/>
                  </a:lnTo>
                  <a:cubicBezTo>
                    <a:pt x="50569" y="2575214"/>
                    <a:pt x="33064" y="2567963"/>
                    <a:pt x="20157" y="2555057"/>
                  </a:cubicBezTo>
                  <a:cubicBezTo>
                    <a:pt x="7251" y="2542150"/>
                    <a:pt x="0" y="2524645"/>
                    <a:pt x="0" y="2506392"/>
                  </a:cubicBezTo>
                  <a:lnTo>
                    <a:pt x="0" y="68822"/>
                  </a:lnTo>
                  <a:cubicBezTo>
                    <a:pt x="0" y="30813"/>
                    <a:pt x="30813" y="0"/>
                    <a:pt x="68822" y="0"/>
                  </a:cubicBezTo>
                  <a:close/>
                </a:path>
              </a:pathLst>
            </a:custGeom>
            <a:gradFill rotWithShape="true">
              <a:gsLst>
                <a:gs pos="0">
                  <a:srgbClr val="FFFFFF">
                    <a:alpha val="100000"/>
                  </a:srgbClr>
                </a:gs>
                <a:gs pos="100000">
                  <a:srgbClr val="DBD8D8">
                    <a:alpha val="100000"/>
                  </a:srgbClr>
                </a:gs>
              </a:gsLst>
              <a:lin ang="5400000"/>
            </a:gradFill>
            <a:ln w="19050" cap="rnd">
              <a:gradFill>
                <a:gsLst>
                  <a:gs pos="0">
                    <a:srgbClr val="FFFFFF">
                      <a:alpha val="100000"/>
                    </a:srgbClr>
                  </a:gs>
                  <a:gs pos="100000">
                    <a:srgbClr val="DBD8D8">
                      <a:alpha val="100000"/>
                    </a:srgbClr>
                  </a:gs>
                </a:gsLst>
                <a:lin ang="5400000"/>
              </a:gradFill>
              <a:prstDash val="solid"/>
              <a:round/>
            </a:ln>
          </p:spPr>
        </p:sp>
        <p:sp>
          <p:nvSpPr>
            <p:cNvPr name="TextBox 11" id="11"/>
            <p:cNvSpPr txBox="true"/>
            <p:nvPr/>
          </p:nvSpPr>
          <p:spPr>
            <a:xfrm>
              <a:off x="0" y="85725"/>
              <a:ext cx="2159461" cy="2489489"/>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2" id="12"/>
          <p:cNvGrpSpPr/>
          <p:nvPr/>
        </p:nvGrpSpPr>
        <p:grpSpPr>
          <a:xfrm rot="0">
            <a:off x="10025580" y="2416653"/>
            <a:ext cx="5608917" cy="6841647"/>
            <a:chOff x="0" y="0"/>
            <a:chExt cx="2111211" cy="2575214"/>
          </a:xfrm>
        </p:grpSpPr>
        <p:sp>
          <p:nvSpPr>
            <p:cNvPr name="Freeform 13" id="13"/>
            <p:cNvSpPr/>
            <p:nvPr/>
          </p:nvSpPr>
          <p:spPr>
            <a:xfrm flipH="false" flipV="false" rot="0">
              <a:off x="0" y="0"/>
              <a:ext cx="2111211" cy="2575214"/>
            </a:xfrm>
            <a:custGeom>
              <a:avLst/>
              <a:gdLst/>
              <a:ahLst/>
              <a:cxnLst/>
              <a:rect r="r" b="b" t="t" l="l"/>
              <a:pathLst>
                <a:path h="2575214" w="2111211">
                  <a:moveTo>
                    <a:pt x="70395" y="0"/>
                  </a:moveTo>
                  <a:lnTo>
                    <a:pt x="2040816" y="0"/>
                  </a:lnTo>
                  <a:cubicBezTo>
                    <a:pt x="2079694" y="0"/>
                    <a:pt x="2111211" y="31517"/>
                    <a:pt x="2111211" y="70395"/>
                  </a:cubicBezTo>
                  <a:lnTo>
                    <a:pt x="2111211" y="2504819"/>
                  </a:lnTo>
                  <a:cubicBezTo>
                    <a:pt x="2111211" y="2543697"/>
                    <a:pt x="2079694" y="2575214"/>
                    <a:pt x="2040816" y="2575214"/>
                  </a:cubicBezTo>
                  <a:lnTo>
                    <a:pt x="70395" y="2575214"/>
                  </a:lnTo>
                  <a:cubicBezTo>
                    <a:pt x="31517" y="2575214"/>
                    <a:pt x="0" y="2543697"/>
                    <a:pt x="0" y="2504819"/>
                  </a:cubicBezTo>
                  <a:lnTo>
                    <a:pt x="0" y="70395"/>
                  </a:lnTo>
                  <a:cubicBezTo>
                    <a:pt x="0" y="31517"/>
                    <a:pt x="31517" y="0"/>
                    <a:pt x="70395" y="0"/>
                  </a:cubicBezTo>
                  <a:close/>
                </a:path>
              </a:pathLst>
            </a:custGeom>
            <a:gradFill rotWithShape="true">
              <a:gsLst>
                <a:gs pos="0">
                  <a:srgbClr val="F5B4FF">
                    <a:alpha val="100000"/>
                  </a:srgbClr>
                </a:gs>
                <a:gs pos="100000">
                  <a:srgbClr val="E393EF">
                    <a:alpha val="100000"/>
                  </a:srgbClr>
                </a:gs>
              </a:gsLst>
              <a:lin ang="0"/>
            </a:gradFill>
            <a:ln w="19050" cap="rnd">
              <a:solidFill>
                <a:srgbClr val="FFFFFF"/>
              </a:solidFill>
              <a:prstDash val="solid"/>
              <a:round/>
            </a:ln>
          </p:spPr>
        </p:sp>
        <p:sp>
          <p:nvSpPr>
            <p:cNvPr name="TextBox 14" id="14"/>
            <p:cNvSpPr txBox="true"/>
            <p:nvPr/>
          </p:nvSpPr>
          <p:spPr>
            <a:xfrm>
              <a:off x="0" y="85725"/>
              <a:ext cx="2111211" cy="2489489"/>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5" id="15"/>
          <p:cNvSpPr txBox="true"/>
          <p:nvPr/>
        </p:nvSpPr>
        <p:spPr>
          <a:xfrm rot="0">
            <a:off x="2417294" y="2641433"/>
            <a:ext cx="5106308" cy="6794182"/>
          </a:xfrm>
          <a:prstGeom prst="rect">
            <a:avLst/>
          </a:prstGeom>
        </p:spPr>
        <p:txBody>
          <a:bodyPr anchor="t" rtlCol="false" tIns="0" lIns="0" bIns="0" rIns="0">
            <a:spAutoFit/>
          </a:bodyPr>
          <a:lstStyle/>
          <a:p>
            <a:pPr algn="l">
              <a:lnSpc>
                <a:spcPts val="4562"/>
              </a:lnSpc>
            </a:pPr>
            <a:r>
              <a:rPr lang="en-US" sz="3899" spc="-163" b="true">
                <a:solidFill>
                  <a:srgbClr val="0E0637"/>
                </a:solidFill>
                <a:latin typeface="Open Sauce Bold"/>
                <a:ea typeface="Open Sauce Bold"/>
                <a:cs typeface="Open Sauce Bold"/>
                <a:sym typeface="Open Sauce Bold"/>
              </a:rPr>
              <a:t>Network Scanner</a:t>
            </a:r>
          </a:p>
          <a:p>
            <a:pPr algn="l">
              <a:lnSpc>
                <a:spcPts val="1170"/>
              </a:lnSpc>
            </a:pPr>
          </a:p>
          <a:p>
            <a:pPr algn="l">
              <a:lnSpc>
                <a:spcPts val="3509"/>
              </a:lnSpc>
            </a:pPr>
            <a:r>
              <a:rPr lang="en-US" sz="2999" spc="-125" b="true">
                <a:solidFill>
                  <a:srgbClr val="0E0637"/>
                </a:solidFill>
                <a:latin typeface="Open Sauce Bold"/>
                <a:ea typeface="Open Sauce Bold"/>
                <a:cs typeface="Open Sauce Bold"/>
                <a:sym typeface="Open Sauce Bold"/>
              </a:rPr>
              <a:t>Network Scanner dete</a:t>
            </a:r>
            <a:r>
              <a:rPr lang="en-US" sz="2999" spc="-125" b="true">
                <a:solidFill>
                  <a:srgbClr val="0E0637"/>
                </a:solidFill>
                <a:latin typeface="Open Sauce Bold"/>
                <a:ea typeface="Open Sauce Bold"/>
                <a:cs typeface="Open Sauce Bold"/>
                <a:sym typeface="Open Sauce Bold"/>
              </a:rPr>
              <a:t>cts:</a:t>
            </a:r>
          </a:p>
          <a:p>
            <a:pPr algn="l">
              <a:lnSpc>
                <a:spcPts val="3509"/>
              </a:lnSpc>
            </a:pPr>
            <a:r>
              <a:rPr lang="en-US" sz="2999" spc="-125" b="true">
                <a:solidFill>
                  <a:srgbClr val="0E0637"/>
                </a:solidFill>
                <a:latin typeface="Open Sauce Bold"/>
                <a:ea typeface="Open Sauce Bold"/>
                <a:cs typeface="Open Sauce Bold"/>
                <a:sym typeface="Open Sauce Bold"/>
              </a:rPr>
              <a:t>• Devic</a:t>
            </a:r>
            <a:r>
              <a:rPr lang="en-US" sz="2999" spc="-125" b="true">
                <a:solidFill>
                  <a:srgbClr val="0E0637"/>
                </a:solidFill>
                <a:latin typeface="Open Sauce Bold"/>
                <a:ea typeface="Open Sauce Bold"/>
                <a:cs typeface="Open Sauce Bold"/>
                <a:sym typeface="Open Sauce Bold"/>
              </a:rPr>
              <a:t>e name</a:t>
            </a:r>
          </a:p>
          <a:p>
            <a:pPr algn="l">
              <a:lnSpc>
                <a:spcPts val="3509"/>
              </a:lnSpc>
            </a:pPr>
            <a:r>
              <a:rPr lang="en-US" sz="2999" spc="-125" b="true">
                <a:solidFill>
                  <a:srgbClr val="0E0637"/>
                </a:solidFill>
                <a:latin typeface="Open Sauce Bold"/>
                <a:ea typeface="Open Sauce Bold"/>
                <a:cs typeface="Open Sauce Bold"/>
                <a:sym typeface="Open Sauce Bold"/>
              </a:rPr>
              <a:t> • Device type</a:t>
            </a:r>
          </a:p>
          <a:p>
            <a:pPr algn="l">
              <a:lnSpc>
                <a:spcPts val="3509"/>
              </a:lnSpc>
            </a:pPr>
            <a:r>
              <a:rPr lang="en-US" sz="2999" spc="-125" b="true">
                <a:solidFill>
                  <a:srgbClr val="0E0637"/>
                </a:solidFill>
                <a:latin typeface="Open Sauce Bold"/>
                <a:ea typeface="Open Sauce Bold"/>
                <a:cs typeface="Open Sauce Bold"/>
                <a:sym typeface="Open Sauce Bold"/>
              </a:rPr>
              <a:t> </a:t>
            </a:r>
            <a:r>
              <a:rPr lang="en-US" sz="2999" spc="-125" b="true">
                <a:solidFill>
                  <a:srgbClr val="0E0637"/>
                </a:solidFill>
                <a:latin typeface="Open Sauce Bold"/>
                <a:ea typeface="Open Sauce Bold"/>
                <a:cs typeface="Open Sauce Bold"/>
                <a:sym typeface="Open Sauce Bold"/>
              </a:rPr>
              <a:t>• Operating system</a:t>
            </a:r>
          </a:p>
          <a:p>
            <a:pPr algn="l">
              <a:lnSpc>
                <a:spcPts val="3509"/>
              </a:lnSpc>
            </a:pPr>
            <a:r>
              <a:rPr lang="en-US" sz="2999" spc="-125" b="true">
                <a:solidFill>
                  <a:srgbClr val="0E0637"/>
                </a:solidFill>
                <a:latin typeface="Open Sauce Bold"/>
                <a:ea typeface="Open Sauce Bold"/>
                <a:cs typeface="Open Sauce Bold"/>
                <a:sym typeface="Open Sauce Bold"/>
              </a:rPr>
              <a:t> • IP address</a:t>
            </a:r>
          </a:p>
          <a:p>
            <a:pPr algn="l">
              <a:lnSpc>
                <a:spcPts val="3509"/>
              </a:lnSpc>
            </a:pPr>
            <a:r>
              <a:rPr lang="en-US" sz="2999" spc="-125" b="true">
                <a:solidFill>
                  <a:srgbClr val="0E0637"/>
                </a:solidFill>
                <a:latin typeface="Open Sauce Bold"/>
                <a:ea typeface="Open Sauce Bold"/>
                <a:cs typeface="Open Sauce Bold"/>
                <a:sym typeface="Open Sauce Bold"/>
              </a:rPr>
              <a:t> • MAC address</a:t>
            </a:r>
          </a:p>
          <a:p>
            <a:pPr algn="l">
              <a:lnSpc>
                <a:spcPts val="3509"/>
              </a:lnSpc>
            </a:pPr>
            <a:r>
              <a:rPr lang="en-US" sz="2999" spc="-125" b="true">
                <a:solidFill>
                  <a:srgbClr val="0E0637"/>
                </a:solidFill>
                <a:latin typeface="Open Sauce Bold"/>
                <a:ea typeface="Open Sauce Bold"/>
                <a:cs typeface="Open Sauce Bold"/>
                <a:sym typeface="Open Sauce Bold"/>
              </a:rPr>
              <a:t> • First seen / last seen</a:t>
            </a:r>
          </a:p>
          <a:p>
            <a:pPr algn="l">
              <a:lnSpc>
                <a:spcPts val="3509"/>
              </a:lnSpc>
            </a:pPr>
          </a:p>
          <a:p>
            <a:pPr algn="l">
              <a:lnSpc>
                <a:spcPts val="3509"/>
              </a:lnSpc>
            </a:pPr>
            <a:r>
              <a:rPr lang="en-US" sz="2999" spc="-125" b="true">
                <a:solidFill>
                  <a:srgbClr val="0E0637"/>
                </a:solidFill>
                <a:latin typeface="Open Sauce Bold"/>
                <a:ea typeface="Open Sauce Bold"/>
                <a:cs typeface="Open Sauce Bold"/>
                <a:sym typeface="Open Sauce Bold"/>
              </a:rPr>
              <a:t>Benefits:</a:t>
            </a:r>
          </a:p>
          <a:p>
            <a:pPr algn="l">
              <a:lnSpc>
                <a:spcPts val="3509"/>
              </a:lnSpc>
            </a:pPr>
            <a:r>
              <a:rPr lang="en-US" sz="2999" spc="-125" b="true">
                <a:solidFill>
                  <a:srgbClr val="0E0637"/>
                </a:solidFill>
                <a:latin typeface="Open Sauce Bold"/>
                <a:ea typeface="Open Sauce Bold"/>
                <a:cs typeface="Open Sauce Bold"/>
                <a:sym typeface="Open Sauce Bold"/>
              </a:rPr>
              <a:t>• Detects unauthorized devices</a:t>
            </a:r>
          </a:p>
          <a:p>
            <a:pPr algn="l">
              <a:lnSpc>
                <a:spcPts val="3509"/>
              </a:lnSpc>
            </a:pPr>
            <a:r>
              <a:rPr lang="en-US" sz="2999" spc="-125" b="true">
                <a:solidFill>
                  <a:srgbClr val="0E0637"/>
                </a:solidFill>
                <a:latin typeface="Open Sauce Bold"/>
                <a:ea typeface="Open Sauce Bold"/>
                <a:cs typeface="Open Sauce Bold"/>
                <a:sym typeface="Open Sauce Bold"/>
              </a:rPr>
              <a:t> • Improves Wi-Fi security</a:t>
            </a:r>
          </a:p>
          <a:p>
            <a:pPr algn="l">
              <a:lnSpc>
                <a:spcPts val="3509"/>
              </a:lnSpc>
            </a:pPr>
            <a:r>
              <a:rPr lang="en-US" sz="2999" spc="-125" b="true">
                <a:solidFill>
                  <a:srgbClr val="0E0637"/>
                </a:solidFill>
                <a:latin typeface="Open Sauce Bold"/>
                <a:ea typeface="Open Sauce Bold"/>
                <a:cs typeface="Open Sauce Bold"/>
                <a:sym typeface="Open Sauce Bold"/>
              </a:rPr>
              <a:t> • Network visibility</a:t>
            </a:r>
          </a:p>
          <a:p>
            <a:pPr algn="l">
              <a:lnSpc>
                <a:spcPts val="3041"/>
              </a:lnSpc>
            </a:pPr>
          </a:p>
        </p:txBody>
      </p:sp>
      <p:sp>
        <p:nvSpPr>
          <p:cNvPr name="TextBox 16" id="16"/>
          <p:cNvSpPr txBox="true"/>
          <p:nvPr/>
        </p:nvSpPr>
        <p:spPr>
          <a:xfrm rot="0">
            <a:off x="10330024" y="2706320"/>
            <a:ext cx="5000029" cy="6757613"/>
          </a:xfrm>
          <a:prstGeom prst="rect">
            <a:avLst/>
          </a:prstGeom>
        </p:spPr>
        <p:txBody>
          <a:bodyPr anchor="t" rtlCol="false" tIns="0" lIns="0" bIns="0" rIns="0">
            <a:spAutoFit/>
          </a:bodyPr>
          <a:lstStyle/>
          <a:p>
            <a:pPr algn="l">
              <a:lnSpc>
                <a:spcPts val="4426"/>
              </a:lnSpc>
            </a:pPr>
            <a:r>
              <a:rPr lang="en-US" sz="3782" spc="-158" b="true">
                <a:solidFill>
                  <a:srgbClr val="0E0637"/>
                </a:solidFill>
                <a:latin typeface="Open Sauce Bold"/>
                <a:ea typeface="Open Sauce Bold"/>
                <a:cs typeface="Open Sauce Bold"/>
                <a:sym typeface="Open Sauce Bold"/>
              </a:rPr>
              <a:t>Hardware Resource Monit</a:t>
            </a:r>
            <a:r>
              <a:rPr lang="en-US" sz="3782" spc="-158" b="true">
                <a:solidFill>
                  <a:srgbClr val="0E0637"/>
                </a:solidFill>
                <a:latin typeface="Open Sauce Bold"/>
                <a:ea typeface="Open Sauce Bold"/>
                <a:cs typeface="Open Sauce Bold"/>
                <a:sym typeface="Open Sauce Bold"/>
              </a:rPr>
              <a:t>oring</a:t>
            </a:r>
          </a:p>
          <a:p>
            <a:pPr algn="l">
              <a:lnSpc>
                <a:spcPts val="1150"/>
              </a:lnSpc>
            </a:pPr>
          </a:p>
          <a:p>
            <a:pPr algn="l">
              <a:lnSpc>
                <a:spcPts val="3373"/>
              </a:lnSpc>
            </a:pPr>
            <a:r>
              <a:rPr lang="en-US" sz="2882" spc="-121" b="true">
                <a:solidFill>
                  <a:srgbClr val="0E0637"/>
                </a:solidFill>
                <a:latin typeface="Open Sauce Bold"/>
                <a:ea typeface="Open Sauce Bold"/>
                <a:cs typeface="Open Sauce Bold"/>
                <a:sym typeface="Open Sauce Bold"/>
              </a:rPr>
              <a:t>GlassWire monitors:</a:t>
            </a:r>
          </a:p>
          <a:p>
            <a:pPr algn="l">
              <a:lnSpc>
                <a:spcPts val="3373"/>
              </a:lnSpc>
            </a:pPr>
            <a:r>
              <a:rPr lang="en-US" sz="2882" spc="-121" b="true">
                <a:solidFill>
                  <a:srgbClr val="0E0637"/>
                </a:solidFill>
                <a:latin typeface="Open Sauce Bold"/>
                <a:ea typeface="Open Sauce Bold"/>
                <a:cs typeface="Open Sauce Bold"/>
                <a:sym typeface="Open Sauce Bold"/>
              </a:rPr>
              <a:t>• CPU usage</a:t>
            </a:r>
          </a:p>
          <a:p>
            <a:pPr algn="l">
              <a:lnSpc>
                <a:spcPts val="3373"/>
              </a:lnSpc>
            </a:pPr>
            <a:r>
              <a:rPr lang="en-US" sz="2882" spc="-121" b="true">
                <a:solidFill>
                  <a:srgbClr val="0E0637"/>
                </a:solidFill>
                <a:latin typeface="Open Sauce Bold"/>
                <a:ea typeface="Open Sauce Bold"/>
                <a:cs typeface="Open Sauce Bold"/>
                <a:sym typeface="Open Sauce Bold"/>
              </a:rPr>
              <a:t> • M</a:t>
            </a:r>
            <a:r>
              <a:rPr lang="en-US" sz="2882" spc="-121" b="true">
                <a:solidFill>
                  <a:srgbClr val="0E0637"/>
                </a:solidFill>
                <a:latin typeface="Open Sauce Bold"/>
                <a:ea typeface="Open Sauce Bold"/>
                <a:cs typeface="Open Sauce Bold"/>
                <a:sym typeface="Open Sauce Bold"/>
              </a:rPr>
              <a:t>emory usage</a:t>
            </a:r>
          </a:p>
          <a:p>
            <a:pPr algn="l">
              <a:lnSpc>
                <a:spcPts val="3373"/>
              </a:lnSpc>
            </a:pPr>
            <a:r>
              <a:rPr lang="en-US" sz="2882" spc="-121" b="true">
                <a:solidFill>
                  <a:srgbClr val="0E0637"/>
                </a:solidFill>
                <a:latin typeface="Open Sauce Bold"/>
                <a:ea typeface="Open Sauce Bold"/>
                <a:cs typeface="Open Sauce Bold"/>
                <a:sym typeface="Open Sauce Bold"/>
              </a:rPr>
              <a:t> • Disk transfer rate</a:t>
            </a:r>
          </a:p>
          <a:p>
            <a:pPr algn="l">
              <a:lnSpc>
                <a:spcPts val="3373"/>
              </a:lnSpc>
            </a:pPr>
            <a:r>
              <a:rPr lang="en-US" sz="2882" spc="-121" b="true">
                <a:solidFill>
                  <a:srgbClr val="0E0637"/>
                </a:solidFill>
                <a:latin typeface="Open Sauce Bold"/>
                <a:ea typeface="Open Sauce Bold"/>
                <a:cs typeface="Open Sauce Bold"/>
                <a:sym typeface="Open Sauce Bold"/>
              </a:rPr>
              <a:t> • GPU usage</a:t>
            </a:r>
          </a:p>
          <a:p>
            <a:pPr algn="l">
              <a:lnSpc>
                <a:spcPts val="3373"/>
              </a:lnSpc>
            </a:pPr>
            <a:r>
              <a:rPr lang="en-US" sz="2882" spc="-121" b="true">
                <a:solidFill>
                  <a:srgbClr val="0E0637"/>
                </a:solidFill>
                <a:latin typeface="Open Sauce Bold"/>
                <a:ea typeface="Open Sauce Bold"/>
                <a:cs typeface="Open Sauce Bold"/>
                <a:sym typeface="Open Sauce Bold"/>
              </a:rPr>
              <a:t> • GPU memory</a:t>
            </a:r>
          </a:p>
          <a:p>
            <a:pPr algn="l">
              <a:lnSpc>
                <a:spcPts val="2788"/>
              </a:lnSpc>
            </a:pPr>
          </a:p>
          <a:p>
            <a:pPr algn="l">
              <a:lnSpc>
                <a:spcPts val="3373"/>
              </a:lnSpc>
            </a:pPr>
            <a:r>
              <a:rPr lang="en-US" sz="2882" spc="-121" b="true">
                <a:solidFill>
                  <a:srgbClr val="0E0637"/>
                </a:solidFill>
                <a:latin typeface="Open Sauce Bold"/>
                <a:ea typeface="Open Sauce Bold"/>
                <a:cs typeface="Open Sauce Bold"/>
                <a:sym typeface="Open Sauce Bold"/>
              </a:rPr>
              <a:t>Benefits:</a:t>
            </a:r>
          </a:p>
          <a:p>
            <a:pPr algn="l">
              <a:lnSpc>
                <a:spcPts val="3373"/>
              </a:lnSpc>
            </a:pPr>
            <a:r>
              <a:rPr lang="en-US" sz="2882" spc="-121" b="true">
                <a:solidFill>
                  <a:srgbClr val="0E0637"/>
                </a:solidFill>
                <a:latin typeface="Open Sauce Bold"/>
                <a:ea typeface="Open Sauce Bold"/>
                <a:cs typeface="Open Sauce Bold"/>
                <a:sym typeface="Open Sauce Bold"/>
              </a:rPr>
              <a:t>• Correlates system performance</a:t>
            </a:r>
          </a:p>
          <a:p>
            <a:pPr algn="l">
              <a:lnSpc>
                <a:spcPts val="3373"/>
              </a:lnSpc>
            </a:pPr>
            <a:r>
              <a:rPr lang="en-US" sz="2882" spc="-121" b="true">
                <a:solidFill>
                  <a:srgbClr val="0E0637"/>
                </a:solidFill>
                <a:latin typeface="Open Sauce Bold"/>
                <a:ea typeface="Open Sauce Bold"/>
                <a:cs typeface="Open Sauce Bold"/>
                <a:sym typeface="Open Sauce Bold"/>
              </a:rPr>
              <a:t> • Detects abnormal behavior</a:t>
            </a:r>
          </a:p>
          <a:p>
            <a:pPr algn="l">
              <a:lnSpc>
                <a:spcPts val="3373"/>
              </a:lnSpc>
            </a:pPr>
            <a:r>
              <a:rPr lang="en-US" sz="2882" spc="-121" b="true">
                <a:solidFill>
                  <a:srgbClr val="0E0637"/>
                </a:solidFill>
                <a:latin typeface="Open Sauce Bold"/>
                <a:ea typeface="Open Sauce Bold"/>
                <a:cs typeface="Open Sauce Bold"/>
                <a:sym typeface="Open Sauce Bold"/>
              </a:rPr>
              <a:t> • Performance monitoring</a:t>
            </a:r>
          </a:p>
          <a:p>
            <a:pPr algn="l">
              <a:lnSpc>
                <a:spcPts val="4118"/>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8768940">
            <a:off x="-1315101" y="-4221648"/>
            <a:ext cx="20918202" cy="18730295"/>
          </a:xfrm>
          <a:custGeom>
            <a:avLst/>
            <a:gdLst/>
            <a:ahLst/>
            <a:cxnLst/>
            <a:rect r="r" b="b" t="t" l="l"/>
            <a:pathLst>
              <a:path h="18730295" w="20918202">
                <a:moveTo>
                  <a:pt x="15187984" y="0"/>
                </a:moveTo>
                <a:lnTo>
                  <a:pt x="0" y="10187054"/>
                </a:lnTo>
                <a:lnTo>
                  <a:pt x="5730218" y="18730296"/>
                </a:lnTo>
                <a:lnTo>
                  <a:pt x="20918202" y="8543242"/>
                </a:lnTo>
                <a:lnTo>
                  <a:pt x="15187984" y="0"/>
                </a:lnTo>
                <a:close/>
              </a:path>
            </a:pathLst>
          </a:custGeom>
          <a:blipFill>
            <a:blip r:embed="rId2"/>
            <a:stretch>
              <a:fillRect l="-2753" t="0" r="-31641" b="0"/>
            </a:stretch>
          </a:blipFill>
        </p:spPr>
      </p:sp>
      <p:grpSp>
        <p:nvGrpSpPr>
          <p:cNvPr name="Group 3" id="3"/>
          <p:cNvGrpSpPr/>
          <p:nvPr/>
        </p:nvGrpSpPr>
        <p:grpSpPr>
          <a:xfrm rot="-8073719">
            <a:off x="-570592" y="-4539507"/>
            <a:ext cx="19366015" cy="1936601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945"/>
                  </a:srgbClr>
                </a:gs>
                <a:gs pos="25000">
                  <a:srgbClr val="FFFFFF">
                    <a:alpha val="1350"/>
                  </a:srgbClr>
                </a:gs>
                <a:gs pos="50000">
                  <a:srgbClr val="FFFFFF">
                    <a:alpha val="900"/>
                  </a:srgbClr>
                </a:gs>
                <a:gs pos="75000">
                  <a:srgbClr val="FFFFFF">
                    <a:alpha val="1350"/>
                  </a:srgbClr>
                </a:gs>
                <a:gs pos="100000">
                  <a:srgbClr val="FFFFFF">
                    <a:alpha val="900"/>
                  </a:srgbClr>
                </a:gs>
              </a:gsLst>
              <a:lin ang="2700000"/>
            </a:gradFill>
            <a:ln w="19050" cap="rnd">
              <a:solidFill>
                <a:srgbClr val="FFFFFF">
                  <a:alpha val="8627"/>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8073719">
            <a:off x="2774663" y="-1149785"/>
            <a:ext cx="12586569" cy="1258656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945"/>
                  </a:srgbClr>
                </a:gs>
                <a:gs pos="25000">
                  <a:srgbClr val="FFFFFF">
                    <a:alpha val="1350"/>
                  </a:srgbClr>
                </a:gs>
                <a:gs pos="50000">
                  <a:srgbClr val="FFFFFF">
                    <a:alpha val="900"/>
                  </a:srgbClr>
                </a:gs>
                <a:gs pos="75000">
                  <a:srgbClr val="FFFFFF">
                    <a:alpha val="1350"/>
                  </a:srgbClr>
                </a:gs>
                <a:gs pos="100000">
                  <a:srgbClr val="FFFFFF">
                    <a:alpha val="900"/>
                  </a:srgbClr>
                </a:gs>
              </a:gsLst>
              <a:lin ang="2700000"/>
            </a:gradFill>
            <a:ln w="19050" cap="rnd">
              <a:solidFill>
                <a:srgbClr val="FFFFFF">
                  <a:alpha val="8627"/>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537864" y="1848914"/>
            <a:ext cx="16567569" cy="7848186"/>
            <a:chOff x="0" y="0"/>
            <a:chExt cx="6236077" cy="2954078"/>
          </a:xfrm>
        </p:grpSpPr>
        <p:sp>
          <p:nvSpPr>
            <p:cNvPr name="Freeform 10" id="10"/>
            <p:cNvSpPr/>
            <p:nvPr/>
          </p:nvSpPr>
          <p:spPr>
            <a:xfrm flipH="false" flipV="false" rot="0">
              <a:off x="0" y="0"/>
              <a:ext cx="6236077" cy="2954078"/>
            </a:xfrm>
            <a:custGeom>
              <a:avLst/>
              <a:gdLst/>
              <a:ahLst/>
              <a:cxnLst/>
              <a:rect r="r" b="b" t="t" l="l"/>
              <a:pathLst>
                <a:path h="2954078" w="6236077">
                  <a:moveTo>
                    <a:pt x="23832" y="0"/>
                  </a:moveTo>
                  <a:lnTo>
                    <a:pt x="6212245" y="0"/>
                  </a:lnTo>
                  <a:cubicBezTo>
                    <a:pt x="6218565" y="0"/>
                    <a:pt x="6224627" y="2511"/>
                    <a:pt x="6229097" y="6980"/>
                  </a:cubicBezTo>
                  <a:cubicBezTo>
                    <a:pt x="6233566" y="11450"/>
                    <a:pt x="6236077" y="17511"/>
                    <a:pt x="6236077" y="23832"/>
                  </a:cubicBezTo>
                  <a:lnTo>
                    <a:pt x="6236077" y="2930246"/>
                  </a:lnTo>
                  <a:cubicBezTo>
                    <a:pt x="6236077" y="2943408"/>
                    <a:pt x="6225407" y="2954078"/>
                    <a:pt x="6212245" y="2954078"/>
                  </a:cubicBezTo>
                  <a:lnTo>
                    <a:pt x="23832" y="2954078"/>
                  </a:lnTo>
                  <a:cubicBezTo>
                    <a:pt x="17511" y="2954078"/>
                    <a:pt x="11450" y="2951567"/>
                    <a:pt x="6980" y="2947098"/>
                  </a:cubicBezTo>
                  <a:cubicBezTo>
                    <a:pt x="2511" y="2942628"/>
                    <a:pt x="0" y="2936566"/>
                    <a:pt x="0" y="2930246"/>
                  </a:cubicBezTo>
                  <a:lnTo>
                    <a:pt x="0" y="23832"/>
                  </a:lnTo>
                  <a:cubicBezTo>
                    <a:pt x="0" y="10670"/>
                    <a:pt x="10670" y="0"/>
                    <a:pt x="23832" y="0"/>
                  </a:cubicBezTo>
                  <a:close/>
                </a:path>
              </a:pathLst>
            </a:custGeom>
            <a:gradFill rotWithShape="true">
              <a:gsLst>
                <a:gs pos="0">
                  <a:srgbClr val="9245C4">
                    <a:alpha val="100000"/>
                  </a:srgbClr>
                </a:gs>
                <a:gs pos="100000">
                  <a:srgbClr val="AD64DD">
                    <a:alpha val="100000"/>
                  </a:srgbClr>
                </a:gs>
              </a:gsLst>
              <a:lin ang="0"/>
            </a:gradFill>
            <a:ln w="19050" cap="rnd">
              <a:solidFill>
                <a:srgbClr val="FFFFFF"/>
              </a:solidFill>
              <a:prstDash val="solid"/>
              <a:round/>
            </a:ln>
          </p:spPr>
        </p:sp>
        <p:sp>
          <p:nvSpPr>
            <p:cNvPr name="TextBox 11" id="11"/>
            <p:cNvSpPr txBox="true"/>
            <p:nvPr/>
          </p:nvSpPr>
          <p:spPr>
            <a:xfrm>
              <a:off x="0" y="85725"/>
              <a:ext cx="6236077" cy="2868353"/>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2" id="12"/>
          <p:cNvSpPr txBox="true"/>
          <p:nvPr/>
        </p:nvSpPr>
        <p:spPr>
          <a:xfrm rot="0">
            <a:off x="1270083" y="510374"/>
            <a:ext cx="15317172" cy="1055702"/>
          </a:xfrm>
          <a:prstGeom prst="rect">
            <a:avLst/>
          </a:prstGeom>
        </p:spPr>
        <p:txBody>
          <a:bodyPr anchor="t" rtlCol="false" tIns="0" lIns="0" bIns="0" rIns="0">
            <a:spAutoFit/>
          </a:bodyPr>
          <a:lstStyle/>
          <a:p>
            <a:pPr algn="ctr">
              <a:lnSpc>
                <a:spcPts val="8291"/>
              </a:lnSpc>
            </a:pPr>
            <a:r>
              <a:rPr lang="en-US" b="true" sz="7087" spc="-297">
                <a:solidFill>
                  <a:srgbClr val="FFFFFF"/>
                </a:solidFill>
                <a:latin typeface="Open Sauce Bold"/>
                <a:ea typeface="Open Sauce Bold"/>
                <a:cs typeface="Open Sauce Bold"/>
                <a:sym typeface="Open Sauce Bold"/>
              </a:rPr>
              <a:t>Installation and setup</a:t>
            </a:r>
          </a:p>
        </p:txBody>
      </p:sp>
      <p:sp>
        <p:nvSpPr>
          <p:cNvPr name="TextBox 13" id="13"/>
          <p:cNvSpPr txBox="true"/>
          <p:nvPr/>
        </p:nvSpPr>
        <p:spPr>
          <a:xfrm rot="0">
            <a:off x="1028700" y="2014235"/>
            <a:ext cx="15256286" cy="8054721"/>
          </a:xfrm>
          <a:prstGeom prst="rect">
            <a:avLst/>
          </a:prstGeom>
        </p:spPr>
        <p:txBody>
          <a:bodyPr anchor="t" rtlCol="false" tIns="0" lIns="0" bIns="0" rIns="0">
            <a:spAutoFit/>
          </a:bodyPr>
          <a:lstStyle/>
          <a:p>
            <a:pPr algn="l">
              <a:lnSpc>
                <a:spcPts val="4679"/>
              </a:lnSpc>
            </a:pPr>
            <a:r>
              <a:rPr lang="en-US" sz="3999" spc="-167" b="true">
                <a:solidFill>
                  <a:srgbClr val="FFFFFF"/>
                </a:solidFill>
                <a:latin typeface="Open Sauce Bold"/>
                <a:ea typeface="Open Sauce Bold"/>
                <a:cs typeface="Open Sauce Bold"/>
                <a:sym typeface="Open Sauce Bold"/>
              </a:rPr>
              <a:t>Step 1: Download</a:t>
            </a:r>
          </a:p>
          <a:p>
            <a:pPr algn="l">
              <a:lnSpc>
                <a:spcPts val="3978"/>
              </a:lnSpc>
            </a:pPr>
            <a:r>
              <a:rPr lang="en-US" sz="3400" spc="-142" b="true">
                <a:solidFill>
                  <a:srgbClr val="FFFFFF"/>
                </a:solidFill>
                <a:latin typeface="Open Sauce Bold"/>
                <a:ea typeface="Open Sauce Bold"/>
                <a:cs typeface="Open Sauce Bold"/>
                <a:sym typeface="Open Sauce Bold"/>
              </a:rPr>
              <a:t> GlassWire downloaded from official website</a:t>
            </a:r>
          </a:p>
          <a:p>
            <a:pPr algn="l">
              <a:lnSpc>
                <a:spcPts val="2457"/>
              </a:lnSpc>
            </a:pPr>
          </a:p>
          <a:p>
            <a:pPr algn="l">
              <a:lnSpc>
                <a:spcPts val="4679"/>
              </a:lnSpc>
            </a:pPr>
            <a:r>
              <a:rPr lang="en-US" sz="3999" spc="-167" b="true">
                <a:solidFill>
                  <a:srgbClr val="FFFFFF"/>
                </a:solidFill>
                <a:latin typeface="Open Sauce Bold"/>
                <a:ea typeface="Open Sauce Bold"/>
                <a:cs typeface="Open Sauce Bold"/>
                <a:sym typeface="Open Sauce Bold"/>
              </a:rPr>
              <a:t>Step 2: Install</a:t>
            </a:r>
          </a:p>
          <a:p>
            <a:pPr algn="l">
              <a:lnSpc>
                <a:spcPts val="3978"/>
              </a:lnSpc>
            </a:pPr>
            <a:r>
              <a:rPr lang="en-US" sz="3400" spc="-142" b="true">
                <a:solidFill>
                  <a:srgbClr val="FFFFFF"/>
                </a:solidFill>
                <a:latin typeface="Open Sauce Bold"/>
                <a:ea typeface="Open Sauce Bold"/>
                <a:cs typeface="Open Sauce Bold"/>
                <a:sym typeface="Open Sauce Bold"/>
              </a:rPr>
              <a:t> • Run installer</a:t>
            </a:r>
          </a:p>
          <a:p>
            <a:pPr algn="l">
              <a:lnSpc>
                <a:spcPts val="3978"/>
              </a:lnSpc>
            </a:pPr>
            <a:r>
              <a:rPr lang="en-US" sz="3400" spc="-142" b="true">
                <a:solidFill>
                  <a:srgbClr val="FFFFFF"/>
                </a:solidFill>
                <a:latin typeface="Open Sauce Bold"/>
                <a:ea typeface="Open Sauce Bold"/>
                <a:cs typeface="Open Sauce Bold"/>
                <a:sym typeface="Open Sauce Bold"/>
              </a:rPr>
              <a:t> • Follow installation steps</a:t>
            </a:r>
          </a:p>
          <a:p>
            <a:pPr algn="l">
              <a:lnSpc>
                <a:spcPts val="2340"/>
              </a:lnSpc>
            </a:pPr>
          </a:p>
          <a:p>
            <a:pPr algn="l">
              <a:lnSpc>
                <a:spcPts val="4679"/>
              </a:lnSpc>
            </a:pPr>
            <a:r>
              <a:rPr lang="en-US" sz="3999" spc="-167" b="true">
                <a:solidFill>
                  <a:srgbClr val="FFFFFF"/>
                </a:solidFill>
                <a:latin typeface="Open Sauce Bold"/>
                <a:ea typeface="Open Sauce Bold"/>
                <a:cs typeface="Open Sauce Bold"/>
                <a:sym typeface="Open Sauce Bold"/>
              </a:rPr>
              <a:t>Step 3: Launch</a:t>
            </a:r>
          </a:p>
          <a:p>
            <a:pPr algn="l">
              <a:lnSpc>
                <a:spcPts val="3978"/>
              </a:lnSpc>
            </a:pPr>
            <a:r>
              <a:rPr lang="en-US" sz="3400" spc="-142" b="true">
                <a:solidFill>
                  <a:srgbClr val="FFFFFF"/>
                </a:solidFill>
                <a:latin typeface="Open Sauce Bold"/>
                <a:ea typeface="Open Sauce Bold"/>
                <a:cs typeface="Open Sauce Bold"/>
                <a:sym typeface="Open Sauce Bold"/>
              </a:rPr>
              <a:t> • Open Gl</a:t>
            </a:r>
            <a:r>
              <a:rPr lang="en-US" sz="3400" spc="-142" b="true">
                <a:solidFill>
                  <a:srgbClr val="FFFFFF"/>
                </a:solidFill>
                <a:latin typeface="Open Sauce Bold"/>
                <a:ea typeface="Open Sauce Bold"/>
                <a:cs typeface="Open Sauce Bold"/>
                <a:sym typeface="Open Sauce Bold"/>
              </a:rPr>
              <a:t>assWire dashboard</a:t>
            </a:r>
          </a:p>
          <a:p>
            <a:pPr algn="l">
              <a:lnSpc>
                <a:spcPts val="3978"/>
              </a:lnSpc>
            </a:pPr>
            <a:r>
              <a:rPr lang="en-US" sz="3400" spc="-142" b="true">
                <a:solidFill>
                  <a:srgbClr val="FFFFFF"/>
                </a:solidFill>
                <a:latin typeface="Open Sauce Bold"/>
                <a:ea typeface="Open Sauce Bold"/>
                <a:cs typeface="Open Sauce Bold"/>
                <a:sym typeface="Open Sauce Bold"/>
              </a:rPr>
              <a:t> • Access tool tabs</a:t>
            </a:r>
          </a:p>
          <a:p>
            <a:pPr algn="l">
              <a:lnSpc>
                <a:spcPts val="3393"/>
              </a:lnSpc>
            </a:pPr>
          </a:p>
          <a:p>
            <a:pPr algn="l">
              <a:lnSpc>
                <a:spcPts val="4679"/>
              </a:lnSpc>
            </a:pPr>
            <a:r>
              <a:rPr lang="en-US" sz="3999" spc="-167" b="true">
                <a:solidFill>
                  <a:srgbClr val="FFFFFF"/>
                </a:solidFill>
                <a:latin typeface="Open Sauce Bold"/>
                <a:ea typeface="Open Sauce Bold"/>
                <a:cs typeface="Open Sauce Bold"/>
                <a:sym typeface="Open Sauce Bold"/>
              </a:rPr>
              <a:t>Step 4: Generate Network Activity</a:t>
            </a:r>
          </a:p>
          <a:p>
            <a:pPr algn="l">
              <a:lnSpc>
                <a:spcPts val="3978"/>
              </a:lnSpc>
            </a:pPr>
            <a:r>
              <a:rPr lang="en-US" sz="3400" spc="-142" b="true">
                <a:solidFill>
                  <a:srgbClr val="FFFFFF"/>
                </a:solidFill>
                <a:latin typeface="Open Sauce Bold"/>
                <a:ea typeface="Open Sauce Bold"/>
                <a:cs typeface="Open Sauce Bold"/>
                <a:sym typeface="Open Sauce Bold"/>
              </a:rPr>
              <a:t> • Open browser</a:t>
            </a:r>
          </a:p>
          <a:p>
            <a:pPr algn="l">
              <a:lnSpc>
                <a:spcPts val="3978"/>
              </a:lnSpc>
            </a:pPr>
            <a:r>
              <a:rPr lang="en-US" sz="3400" spc="-142" b="true">
                <a:solidFill>
                  <a:srgbClr val="FFFFFF"/>
                </a:solidFill>
                <a:latin typeface="Open Sauce Bold"/>
                <a:ea typeface="Open Sauce Bold"/>
                <a:cs typeface="Open Sauce Bold"/>
                <a:sym typeface="Open Sauce Bold"/>
              </a:rPr>
              <a:t> • Stream videos</a:t>
            </a:r>
          </a:p>
          <a:p>
            <a:pPr algn="l">
              <a:lnSpc>
                <a:spcPts val="3978"/>
              </a:lnSpc>
            </a:pPr>
            <a:r>
              <a:rPr lang="en-US" sz="3400" spc="-142" b="true">
                <a:solidFill>
                  <a:srgbClr val="FFFFFF"/>
                </a:solidFill>
                <a:latin typeface="Open Sauce Bold"/>
                <a:ea typeface="Open Sauce Bold"/>
                <a:cs typeface="Open Sauce Bold"/>
                <a:sym typeface="Open Sauce Bold"/>
              </a:rPr>
              <a:t> • Run background apps</a:t>
            </a:r>
          </a:p>
          <a:p>
            <a:pPr algn="l">
              <a:lnSpc>
                <a:spcPts val="4913"/>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9278497">
            <a:off x="4240293" y="-3978498"/>
            <a:ext cx="17891941" cy="1789194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7150129" y="-1068662"/>
            <a:ext cx="12072268" cy="120722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9" id="9"/>
          <p:cNvSpPr/>
          <p:nvPr/>
        </p:nvSpPr>
        <p:spPr>
          <a:xfrm flipH="false" flipV="false" rot="0">
            <a:off x="3911258" y="1431613"/>
            <a:ext cx="5232742" cy="1871088"/>
          </a:xfrm>
          <a:custGeom>
            <a:avLst/>
            <a:gdLst/>
            <a:ahLst/>
            <a:cxnLst/>
            <a:rect r="r" b="b" t="t" l="l"/>
            <a:pathLst>
              <a:path h="1871088" w="5232742">
                <a:moveTo>
                  <a:pt x="0" y="0"/>
                </a:moveTo>
                <a:lnTo>
                  <a:pt x="5232742" y="0"/>
                </a:lnTo>
                <a:lnTo>
                  <a:pt x="5232742" y="1871089"/>
                </a:lnTo>
                <a:lnTo>
                  <a:pt x="0" y="1871089"/>
                </a:lnTo>
                <a:lnTo>
                  <a:pt x="0" y="0"/>
                </a:lnTo>
                <a:close/>
              </a:path>
            </a:pathLst>
          </a:custGeom>
          <a:blipFill>
            <a:blip r:embed="rId3"/>
            <a:stretch>
              <a:fillRect l="0" t="-308" r="0" b="-308"/>
            </a:stretch>
          </a:blipFill>
        </p:spPr>
      </p:sp>
      <p:sp>
        <p:nvSpPr>
          <p:cNvPr name="Freeform 10" id="10"/>
          <p:cNvSpPr/>
          <p:nvPr/>
        </p:nvSpPr>
        <p:spPr>
          <a:xfrm flipH="false" flipV="false" rot="0">
            <a:off x="2772242" y="4103659"/>
            <a:ext cx="14985938" cy="5539202"/>
          </a:xfrm>
          <a:custGeom>
            <a:avLst/>
            <a:gdLst/>
            <a:ahLst/>
            <a:cxnLst/>
            <a:rect r="r" b="b" t="t" l="l"/>
            <a:pathLst>
              <a:path h="5539202" w="14985938">
                <a:moveTo>
                  <a:pt x="0" y="0"/>
                </a:moveTo>
                <a:lnTo>
                  <a:pt x="14985939" y="0"/>
                </a:lnTo>
                <a:lnTo>
                  <a:pt x="14985939" y="5539202"/>
                </a:lnTo>
                <a:lnTo>
                  <a:pt x="0" y="5539202"/>
                </a:lnTo>
                <a:lnTo>
                  <a:pt x="0" y="0"/>
                </a:lnTo>
                <a:close/>
              </a:path>
            </a:pathLst>
          </a:custGeom>
          <a:blipFill>
            <a:blip r:embed="rId4"/>
            <a:stretch>
              <a:fillRect l="-1150" t="0" r="-2311" b="-44153"/>
            </a:stretch>
          </a:blipFill>
        </p:spPr>
      </p:sp>
      <p:sp>
        <p:nvSpPr>
          <p:cNvPr name="TextBox 11" id="11"/>
          <p:cNvSpPr txBox="true"/>
          <p:nvPr/>
        </p:nvSpPr>
        <p:spPr>
          <a:xfrm rot="0">
            <a:off x="5146582" y="188211"/>
            <a:ext cx="15021240" cy="840489"/>
          </a:xfrm>
          <a:prstGeom prst="rect">
            <a:avLst/>
          </a:prstGeom>
        </p:spPr>
        <p:txBody>
          <a:bodyPr anchor="t" rtlCol="false" tIns="0" lIns="0" bIns="0" rIns="0">
            <a:spAutoFit/>
          </a:bodyPr>
          <a:lstStyle/>
          <a:p>
            <a:pPr algn="l">
              <a:lnSpc>
                <a:spcPts val="6552"/>
              </a:lnSpc>
            </a:pPr>
            <a:r>
              <a:rPr lang="en-US" b="true" sz="5600" spc="-235">
                <a:solidFill>
                  <a:srgbClr val="FFFFFF"/>
                </a:solidFill>
                <a:latin typeface="Open Sauce Bold"/>
                <a:ea typeface="Open Sauce Bold"/>
                <a:cs typeface="Open Sauce Bold"/>
                <a:sym typeface="Open Sauce Bold"/>
              </a:rPr>
              <a:t>Experimentation &amp; Results</a:t>
            </a:r>
          </a:p>
        </p:txBody>
      </p:sp>
      <p:sp>
        <p:nvSpPr>
          <p:cNvPr name="TextBox 12" id="12"/>
          <p:cNvSpPr txBox="true"/>
          <p:nvPr/>
        </p:nvSpPr>
        <p:spPr>
          <a:xfrm rot="0">
            <a:off x="389613" y="971550"/>
            <a:ext cx="2174326" cy="2734065"/>
          </a:xfrm>
          <a:prstGeom prst="rect">
            <a:avLst/>
          </a:prstGeom>
        </p:spPr>
        <p:txBody>
          <a:bodyPr anchor="t" rtlCol="false" tIns="0" lIns="0" bIns="0" rIns="0">
            <a:spAutoFit/>
          </a:bodyPr>
          <a:lstStyle/>
          <a:p>
            <a:pPr algn="ctr">
              <a:lnSpc>
                <a:spcPts val="3653"/>
              </a:lnSpc>
              <a:spcBef>
                <a:spcPct val="0"/>
              </a:spcBef>
            </a:pPr>
            <a:r>
              <a:rPr lang="en-US" b="true" sz="2609" spc="-195">
                <a:solidFill>
                  <a:srgbClr val="FFFFFF"/>
                </a:solidFill>
                <a:latin typeface="Open Sans Bold"/>
                <a:ea typeface="Open Sans Bold"/>
                <a:cs typeface="Open Sans Bold"/>
                <a:sym typeface="Open Sans Bold"/>
              </a:rPr>
              <a:t>Real-time alert showing first network activity detected by GlassWire</a:t>
            </a:r>
          </a:p>
        </p:txBody>
      </p:sp>
      <p:sp>
        <p:nvSpPr>
          <p:cNvPr name="TextBox 13" id="13"/>
          <p:cNvSpPr txBox="true"/>
          <p:nvPr/>
        </p:nvSpPr>
        <p:spPr>
          <a:xfrm rot="0">
            <a:off x="389613" y="4864491"/>
            <a:ext cx="1821812" cy="3191265"/>
          </a:xfrm>
          <a:prstGeom prst="rect">
            <a:avLst/>
          </a:prstGeom>
        </p:spPr>
        <p:txBody>
          <a:bodyPr anchor="t" rtlCol="false" tIns="0" lIns="0" bIns="0" rIns="0">
            <a:spAutoFit/>
          </a:bodyPr>
          <a:lstStyle/>
          <a:p>
            <a:pPr algn="ctr">
              <a:lnSpc>
                <a:spcPts val="3653"/>
              </a:lnSpc>
              <a:spcBef>
                <a:spcPct val="0"/>
              </a:spcBef>
            </a:pPr>
            <a:r>
              <a:rPr lang="en-US" b="true" sz="2609" spc="-195">
                <a:solidFill>
                  <a:srgbClr val="FFFFFF"/>
                </a:solidFill>
                <a:latin typeface="Open Sans Bold"/>
                <a:ea typeface="Open Sans Bold"/>
                <a:cs typeface="Open Sans Bold"/>
                <a:sym typeface="Open Sans Bold"/>
              </a:rPr>
              <a:t>Log Analysis tab showing first-time network activity detection</a:t>
            </a:r>
          </a:p>
          <a:p>
            <a:pPr algn="ctr">
              <a:lnSpc>
                <a:spcPts val="3653"/>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false" flipV="false" rot="0">
            <a:off x="4582959" y="580617"/>
            <a:ext cx="11301259" cy="4562883"/>
          </a:xfrm>
          <a:custGeom>
            <a:avLst/>
            <a:gdLst/>
            <a:ahLst/>
            <a:cxnLst/>
            <a:rect r="r" b="b" t="t" l="l"/>
            <a:pathLst>
              <a:path h="4562883" w="11301259">
                <a:moveTo>
                  <a:pt x="0" y="0"/>
                </a:moveTo>
                <a:lnTo>
                  <a:pt x="11301259" y="0"/>
                </a:lnTo>
                <a:lnTo>
                  <a:pt x="11301259" y="4562883"/>
                </a:lnTo>
                <a:lnTo>
                  <a:pt x="0" y="4562883"/>
                </a:lnTo>
                <a:lnTo>
                  <a:pt x="0" y="0"/>
                </a:lnTo>
                <a:close/>
              </a:path>
            </a:pathLst>
          </a:custGeom>
          <a:blipFill>
            <a:blip r:embed="rId2"/>
            <a:stretch>
              <a:fillRect l="0" t="0" r="0" b="0"/>
            </a:stretch>
          </a:blipFill>
        </p:spPr>
      </p:sp>
      <p:sp>
        <p:nvSpPr>
          <p:cNvPr name="Freeform 3" id="3"/>
          <p:cNvSpPr/>
          <p:nvPr/>
        </p:nvSpPr>
        <p:spPr>
          <a:xfrm flipH="false" flipV="false" rot="0">
            <a:off x="4994636" y="5437476"/>
            <a:ext cx="9287246" cy="4399833"/>
          </a:xfrm>
          <a:custGeom>
            <a:avLst/>
            <a:gdLst/>
            <a:ahLst/>
            <a:cxnLst/>
            <a:rect r="r" b="b" t="t" l="l"/>
            <a:pathLst>
              <a:path h="4399833" w="9287246">
                <a:moveTo>
                  <a:pt x="0" y="0"/>
                </a:moveTo>
                <a:lnTo>
                  <a:pt x="9287246" y="0"/>
                </a:lnTo>
                <a:lnTo>
                  <a:pt x="9287246" y="4399833"/>
                </a:lnTo>
                <a:lnTo>
                  <a:pt x="0" y="4399833"/>
                </a:lnTo>
                <a:lnTo>
                  <a:pt x="0" y="0"/>
                </a:lnTo>
                <a:close/>
              </a:path>
            </a:pathLst>
          </a:custGeom>
          <a:blipFill>
            <a:blip r:embed="rId3"/>
            <a:stretch>
              <a:fillRect l="0" t="0" r="0" b="0"/>
            </a:stretch>
          </a:blipFill>
        </p:spPr>
      </p:sp>
      <p:sp>
        <p:nvSpPr>
          <p:cNvPr name="TextBox 4" id="4"/>
          <p:cNvSpPr txBox="true"/>
          <p:nvPr/>
        </p:nvSpPr>
        <p:spPr>
          <a:xfrm rot="0">
            <a:off x="361264" y="971550"/>
            <a:ext cx="3689239" cy="1819665"/>
          </a:xfrm>
          <a:prstGeom prst="rect">
            <a:avLst/>
          </a:prstGeom>
        </p:spPr>
        <p:txBody>
          <a:bodyPr anchor="t" rtlCol="false" tIns="0" lIns="0" bIns="0" rIns="0">
            <a:spAutoFit/>
          </a:bodyPr>
          <a:lstStyle/>
          <a:p>
            <a:pPr algn="ctr">
              <a:lnSpc>
                <a:spcPts val="3653"/>
              </a:lnSpc>
              <a:spcBef>
                <a:spcPct val="0"/>
              </a:spcBef>
            </a:pPr>
            <a:r>
              <a:rPr lang="en-US" b="true" sz="2609" spc="-195">
                <a:solidFill>
                  <a:srgbClr val="FFFFFF"/>
                </a:solidFill>
                <a:latin typeface="Open Sans Bold"/>
                <a:ea typeface="Open Sans Bold"/>
                <a:cs typeface="Open Sans Bold"/>
                <a:sym typeface="Open Sans Bold"/>
              </a:rPr>
              <a:t>Host-level inspection showing remote server and associated application</a:t>
            </a:r>
          </a:p>
        </p:txBody>
      </p:sp>
      <p:sp>
        <p:nvSpPr>
          <p:cNvPr name="TextBox 5" id="5"/>
          <p:cNvSpPr txBox="true"/>
          <p:nvPr/>
        </p:nvSpPr>
        <p:spPr>
          <a:xfrm rot="0">
            <a:off x="361264" y="6732127"/>
            <a:ext cx="3689239" cy="905265"/>
          </a:xfrm>
          <a:prstGeom prst="rect">
            <a:avLst/>
          </a:prstGeom>
        </p:spPr>
        <p:txBody>
          <a:bodyPr anchor="t" rtlCol="false" tIns="0" lIns="0" bIns="0" rIns="0">
            <a:spAutoFit/>
          </a:bodyPr>
          <a:lstStyle/>
          <a:p>
            <a:pPr algn="ctr">
              <a:lnSpc>
                <a:spcPts val="3653"/>
              </a:lnSpc>
              <a:spcBef>
                <a:spcPct val="0"/>
              </a:spcBef>
            </a:pPr>
            <a:r>
              <a:rPr lang="en-US" b="true" sz="2609" spc="-195">
                <a:solidFill>
                  <a:srgbClr val="FFFFFF"/>
                </a:solidFill>
                <a:latin typeface="Open Sans Bold"/>
                <a:ea typeface="Open Sans Bold"/>
                <a:cs typeface="Open Sans Bold"/>
                <a:sym typeface="Open Sans Bold"/>
              </a:rPr>
              <a:t>Graphica</a:t>
            </a:r>
            <a:r>
              <a:rPr lang="en-US" b="true" sz="2609" spc="-195">
                <a:solidFill>
                  <a:srgbClr val="FFFFFF"/>
                </a:solidFill>
                <a:latin typeface="Open Sans Bold"/>
                <a:ea typeface="Open Sans Bold"/>
                <a:cs typeface="Open Sans Bold"/>
                <a:sym typeface="Open Sans Bold"/>
              </a:rPr>
              <a:t>l network traffic visualization</a:t>
            </a:r>
          </a:p>
        </p:txBody>
      </p:sp>
      <p:grpSp>
        <p:nvGrpSpPr>
          <p:cNvPr name="Group 6" id="6"/>
          <p:cNvGrpSpPr/>
          <p:nvPr/>
        </p:nvGrpSpPr>
        <p:grpSpPr>
          <a:xfrm rot="-8457765">
            <a:off x="-425717" y="-9272866"/>
            <a:ext cx="19140231" cy="191402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8" id="8"/>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9" id="9"/>
          <p:cNvGrpSpPr/>
          <p:nvPr/>
        </p:nvGrpSpPr>
        <p:grpSpPr>
          <a:xfrm rot="-8457765">
            <a:off x="2148368" y="-6538878"/>
            <a:ext cx="13929461" cy="139294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false" flipV="false" rot="0">
            <a:off x="5531870" y="227244"/>
            <a:ext cx="9116225" cy="5347571"/>
          </a:xfrm>
          <a:custGeom>
            <a:avLst/>
            <a:gdLst/>
            <a:ahLst/>
            <a:cxnLst/>
            <a:rect r="r" b="b" t="t" l="l"/>
            <a:pathLst>
              <a:path h="5347571" w="9116225">
                <a:moveTo>
                  <a:pt x="0" y="0"/>
                </a:moveTo>
                <a:lnTo>
                  <a:pt x="9116225" y="0"/>
                </a:lnTo>
                <a:lnTo>
                  <a:pt x="9116225" y="5347571"/>
                </a:lnTo>
                <a:lnTo>
                  <a:pt x="0" y="5347571"/>
                </a:lnTo>
                <a:lnTo>
                  <a:pt x="0" y="0"/>
                </a:lnTo>
                <a:close/>
              </a:path>
            </a:pathLst>
          </a:custGeom>
          <a:blipFill>
            <a:blip r:embed="rId2"/>
            <a:stretch>
              <a:fillRect l="0" t="0" r="0" b="0"/>
            </a:stretch>
          </a:blipFill>
        </p:spPr>
      </p:sp>
      <p:sp>
        <p:nvSpPr>
          <p:cNvPr name="Freeform 3" id="3"/>
          <p:cNvSpPr/>
          <p:nvPr/>
        </p:nvSpPr>
        <p:spPr>
          <a:xfrm flipH="false" flipV="false" rot="0">
            <a:off x="5663005" y="5991548"/>
            <a:ext cx="6961990" cy="4011994"/>
          </a:xfrm>
          <a:custGeom>
            <a:avLst/>
            <a:gdLst/>
            <a:ahLst/>
            <a:cxnLst/>
            <a:rect r="r" b="b" t="t" l="l"/>
            <a:pathLst>
              <a:path h="4011994" w="6961990">
                <a:moveTo>
                  <a:pt x="0" y="0"/>
                </a:moveTo>
                <a:lnTo>
                  <a:pt x="6961990" y="0"/>
                </a:lnTo>
                <a:lnTo>
                  <a:pt x="6961990" y="4011995"/>
                </a:lnTo>
                <a:lnTo>
                  <a:pt x="0" y="4011995"/>
                </a:lnTo>
                <a:lnTo>
                  <a:pt x="0" y="0"/>
                </a:lnTo>
                <a:close/>
              </a:path>
            </a:pathLst>
          </a:custGeom>
          <a:blipFill>
            <a:blip r:embed="rId3"/>
            <a:stretch>
              <a:fillRect l="0" t="0" r="0" b="0"/>
            </a:stretch>
          </a:blipFill>
        </p:spPr>
      </p:sp>
      <p:sp>
        <p:nvSpPr>
          <p:cNvPr name="TextBox 4" id="4"/>
          <p:cNvSpPr txBox="true"/>
          <p:nvPr/>
        </p:nvSpPr>
        <p:spPr>
          <a:xfrm rot="0">
            <a:off x="393310" y="515062"/>
            <a:ext cx="3689239" cy="3648465"/>
          </a:xfrm>
          <a:prstGeom prst="rect">
            <a:avLst/>
          </a:prstGeom>
        </p:spPr>
        <p:txBody>
          <a:bodyPr anchor="t" rtlCol="false" tIns="0" lIns="0" bIns="0" rIns="0">
            <a:spAutoFit/>
          </a:bodyPr>
          <a:lstStyle/>
          <a:p>
            <a:pPr algn="ctr">
              <a:lnSpc>
                <a:spcPts val="3653"/>
              </a:lnSpc>
            </a:pPr>
            <a:r>
              <a:rPr lang="en-US" b="true" sz="2609" spc="-195">
                <a:solidFill>
                  <a:srgbClr val="FFFFFF"/>
                </a:solidFill>
                <a:latin typeface="Open Sans Bold"/>
                <a:ea typeface="Open Sans Bold"/>
                <a:cs typeface="Open Sans Bold"/>
                <a:sym typeface="Open Sans Bold"/>
              </a:rPr>
              <a:t>Google Chrome 103.7 MB</a:t>
            </a:r>
          </a:p>
          <a:p>
            <a:pPr algn="ctr">
              <a:lnSpc>
                <a:spcPts val="3653"/>
              </a:lnSpc>
            </a:pPr>
            <a:r>
              <a:rPr lang="en-US" b="true" sz="2609" spc="-195">
                <a:solidFill>
                  <a:srgbClr val="FFFFFF"/>
                </a:solidFill>
                <a:latin typeface="Open Sans Bold"/>
                <a:ea typeface="Open Sans Bold"/>
                <a:cs typeface="Open Sans Bold"/>
                <a:sym typeface="Open Sans Bold"/>
              </a:rPr>
              <a:t> Country distribution</a:t>
            </a:r>
          </a:p>
          <a:p>
            <a:pPr algn="ctr">
              <a:lnSpc>
                <a:spcPts val="3653"/>
              </a:lnSpc>
              <a:spcBef>
                <a:spcPct val="0"/>
              </a:spcBef>
            </a:pPr>
            <a:r>
              <a:rPr lang="en-US" b="true" sz="2609" spc="-195">
                <a:solidFill>
                  <a:srgbClr val="FFFFFF"/>
                </a:solidFill>
                <a:latin typeface="Open Sans Bold"/>
                <a:ea typeface="Open Sans Bold"/>
                <a:cs typeface="Open Sans Bold"/>
                <a:sym typeface="Open Sans Bold"/>
              </a:rPr>
              <a:t> Traffic</a:t>
            </a:r>
            <a:r>
              <a:rPr lang="en-US" b="true" sz="2609" spc="-195">
                <a:solidFill>
                  <a:srgbClr val="FFFFFF"/>
                </a:solidFill>
                <a:latin typeface="Open Sans Bold"/>
                <a:ea typeface="Open Sans Bold"/>
                <a:cs typeface="Open Sans Bold"/>
                <a:sym typeface="Open Sans Bold"/>
              </a:rPr>
              <a:t> types</a:t>
            </a:r>
          </a:p>
          <a:p>
            <a:pPr algn="ctr">
              <a:lnSpc>
                <a:spcPts val="3653"/>
              </a:lnSpc>
              <a:spcBef>
                <a:spcPct val="0"/>
              </a:spcBef>
            </a:pPr>
          </a:p>
          <a:p>
            <a:pPr algn="ctr">
              <a:lnSpc>
                <a:spcPts val="3653"/>
              </a:lnSpc>
              <a:spcBef>
                <a:spcPct val="0"/>
              </a:spcBef>
            </a:pPr>
            <a:r>
              <a:rPr lang="en-US" b="true" sz="2609" spc="-195">
                <a:solidFill>
                  <a:srgbClr val="FFFFFF"/>
                </a:solidFill>
                <a:latin typeface="Open Sans Bold"/>
                <a:ea typeface="Open Sans Bold"/>
                <a:cs typeface="Open Sans Bold"/>
                <a:sym typeface="Open Sans Bold"/>
              </a:rPr>
              <a:t> Detailed traffic session showing high bandwidth usage</a:t>
            </a:r>
          </a:p>
          <a:p>
            <a:pPr algn="ctr">
              <a:lnSpc>
                <a:spcPts val="3653"/>
              </a:lnSpc>
              <a:spcBef>
                <a:spcPct val="0"/>
              </a:spcBef>
            </a:pPr>
          </a:p>
        </p:txBody>
      </p:sp>
      <p:sp>
        <p:nvSpPr>
          <p:cNvPr name="TextBox 5" id="5"/>
          <p:cNvSpPr txBox="true"/>
          <p:nvPr/>
        </p:nvSpPr>
        <p:spPr>
          <a:xfrm rot="0">
            <a:off x="393310" y="7214910"/>
            <a:ext cx="3689239" cy="448065"/>
          </a:xfrm>
          <a:prstGeom prst="rect">
            <a:avLst/>
          </a:prstGeom>
        </p:spPr>
        <p:txBody>
          <a:bodyPr anchor="t" rtlCol="false" tIns="0" lIns="0" bIns="0" rIns="0">
            <a:spAutoFit/>
          </a:bodyPr>
          <a:lstStyle/>
          <a:p>
            <a:pPr algn="ctr">
              <a:lnSpc>
                <a:spcPts val="3653"/>
              </a:lnSpc>
              <a:spcBef>
                <a:spcPct val="0"/>
              </a:spcBef>
            </a:pPr>
            <a:r>
              <a:rPr lang="en-US" b="true" sz="2609" spc="-195">
                <a:solidFill>
                  <a:srgbClr val="FFFFFF"/>
                </a:solidFill>
                <a:latin typeface="Open Sans Bold"/>
                <a:ea typeface="Open Sans Bold"/>
                <a:cs typeface="Open Sans Bold"/>
                <a:sym typeface="Open Sans Bold"/>
              </a:rPr>
              <a:t>Firewall</a:t>
            </a:r>
          </a:p>
        </p:txBody>
      </p:sp>
      <p:grpSp>
        <p:nvGrpSpPr>
          <p:cNvPr name="Group 6" id="6"/>
          <p:cNvGrpSpPr/>
          <p:nvPr/>
        </p:nvGrpSpPr>
        <p:grpSpPr>
          <a:xfrm rot="-8457765">
            <a:off x="-425717" y="-9272866"/>
            <a:ext cx="19140231" cy="191402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8" id="8"/>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9" id="9"/>
          <p:cNvGrpSpPr/>
          <p:nvPr/>
        </p:nvGrpSpPr>
        <p:grpSpPr>
          <a:xfrm rot="-8457765">
            <a:off x="2148368" y="-6538878"/>
            <a:ext cx="13929461" cy="139294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grpSp>
        <p:nvGrpSpPr>
          <p:cNvPr name="Group 2" id="2"/>
          <p:cNvGrpSpPr/>
          <p:nvPr/>
        </p:nvGrpSpPr>
        <p:grpSpPr>
          <a:xfrm rot="-9278497">
            <a:off x="-5455214" y="259623"/>
            <a:ext cx="17891941" cy="1789194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4" id="4"/>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5" id="5"/>
          <p:cNvGrpSpPr/>
          <p:nvPr/>
        </p:nvGrpSpPr>
        <p:grpSpPr>
          <a:xfrm rot="-9278497">
            <a:off x="-2545378" y="2475015"/>
            <a:ext cx="12072268" cy="1207226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7" id="7"/>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8" id="8"/>
          <p:cNvSpPr/>
          <p:nvPr/>
        </p:nvSpPr>
        <p:spPr>
          <a:xfrm flipH="false" flipV="false" rot="0">
            <a:off x="3490756" y="310399"/>
            <a:ext cx="10161712" cy="4833101"/>
          </a:xfrm>
          <a:custGeom>
            <a:avLst/>
            <a:gdLst/>
            <a:ahLst/>
            <a:cxnLst/>
            <a:rect r="r" b="b" t="t" l="l"/>
            <a:pathLst>
              <a:path h="4833101" w="10161712">
                <a:moveTo>
                  <a:pt x="0" y="0"/>
                </a:moveTo>
                <a:lnTo>
                  <a:pt x="10161713" y="0"/>
                </a:lnTo>
                <a:lnTo>
                  <a:pt x="10161713" y="4833101"/>
                </a:lnTo>
                <a:lnTo>
                  <a:pt x="0" y="4833101"/>
                </a:lnTo>
                <a:lnTo>
                  <a:pt x="0" y="0"/>
                </a:lnTo>
                <a:close/>
              </a:path>
            </a:pathLst>
          </a:custGeom>
          <a:blipFill>
            <a:blip r:embed="rId2"/>
            <a:stretch>
              <a:fillRect l="0" t="-9068" r="0" b="0"/>
            </a:stretch>
          </a:blipFill>
        </p:spPr>
      </p:sp>
      <p:sp>
        <p:nvSpPr>
          <p:cNvPr name="Freeform 9" id="9"/>
          <p:cNvSpPr/>
          <p:nvPr/>
        </p:nvSpPr>
        <p:spPr>
          <a:xfrm flipH="false" flipV="false" rot="0">
            <a:off x="5844207" y="5434383"/>
            <a:ext cx="9825284" cy="4519630"/>
          </a:xfrm>
          <a:custGeom>
            <a:avLst/>
            <a:gdLst/>
            <a:ahLst/>
            <a:cxnLst/>
            <a:rect r="r" b="b" t="t" l="l"/>
            <a:pathLst>
              <a:path h="4519630" w="9825284">
                <a:moveTo>
                  <a:pt x="0" y="0"/>
                </a:moveTo>
                <a:lnTo>
                  <a:pt x="9825283" y="0"/>
                </a:lnTo>
                <a:lnTo>
                  <a:pt x="9825283" y="4519631"/>
                </a:lnTo>
                <a:lnTo>
                  <a:pt x="0" y="4519631"/>
                </a:lnTo>
                <a:lnTo>
                  <a:pt x="0" y="0"/>
                </a:lnTo>
                <a:close/>
              </a:path>
            </a:pathLst>
          </a:custGeom>
          <a:blipFill>
            <a:blip r:embed="rId3"/>
            <a:stretch>
              <a:fillRect l="0" t="0" r="0" b="0"/>
            </a:stretch>
          </a:blipFill>
        </p:spPr>
      </p:sp>
      <p:sp>
        <p:nvSpPr>
          <p:cNvPr name="TextBox 10" id="10"/>
          <p:cNvSpPr txBox="true"/>
          <p:nvPr/>
        </p:nvSpPr>
        <p:spPr>
          <a:xfrm rot="0">
            <a:off x="306670" y="414318"/>
            <a:ext cx="3184086" cy="5020065"/>
          </a:xfrm>
          <a:prstGeom prst="rect">
            <a:avLst/>
          </a:prstGeom>
        </p:spPr>
        <p:txBody>
          <a:bodyPr anchor="t" rtlCol="false" tIns="0" lIns="0" bIns="0" rIns="0">
            <a:spAutoFit/>
          </a:bodyPr>
          <a:lstStyle/>
          <a:p>
            <a:pPr algn="l">
              <a:lnSpc>
                <a:spcPts val="3653"/>
              </a:lnSpc>
            </a:pPr>
            <a:r>
              <a:rPr lang="en-US" sz="2609" spc="-195" b="true">
                <a:solidFill>
                  <a:srgbClr val="FFFFFF"/>
                </a:solidFill>
                <a:latin typeface="Open Sans Bold"/>
                <a:ea typeface="Open Sans Bold"/>
                <a:cs typeface="Open Sans Bold"/>
                <a:sym typeface="Open Sans Bold"/>
              </a:rPr>
              <a:t>Real time  usage</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Google Chrome highest bandwidth usage</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 Multiple hosts contacted</a:t>
            </a:r>
          </a:p>
          <a:p>
            <a:pPr algn="l">
              <a:lnSpc>
                <a:spcPts val="3653"/>
              </a:lnSpc>
              <a:spcBef>
                <a:spcPct val="0"/>
              </a:spcBef>
            </a:pP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Traffic Monitor showing application-wise and host-wise traffic</a:t>
            </a:r>
          </a:p>
        </p:txBody>
      </p:sp>
      <p:sp>
        <p:nvSpPr>
          <p:cNvPr name="TextBox 11" id="11"/>
          <p:cNvSpPr txBox="true"/>
          <p:nvPr/>
        </p:nvSpPr>
        <p:spPr>
          <a:xfrm rot="0">
            <a:off x="306670" y="6546393"/>
            <a:ext cx="4061561" cy="3191265"/>
          </a:xfrm>
          <a:prstGeom prst="rect">
            <a:avLst/>
          </a:prstGeom>
        </p:spPr>
        <p:txBody>
          <a:bodyPr anchor="t" rtlCol="false" tIns="0" lIns="0" bIns="0" rIns="0">
            <a:spAutoFit/>
          </a:bodyPr>
          <a:lstStyle/>
          <a:p>
            <a:pPr algn="l">
              <a:lnSpc>
                <a:spcPts val="3653"/>
              </a:lnSpc>
              <a:spcBef>
                <a:spcPct val="0"/>
              </a:spcBef>
            </a:pPr>
            <a:r>
              <a:rPr lang="en-US" b="true" sz="2609" spc="-195">
                <a:solidFill>
                  <a:srgbClr val="FFFFFF"/>
                </a:solidFill>
                <a:latin typeface="Open Sans Bold"/>
                <a:ea typeface="Open Sans Bold"/>
                <a:cs typeface="Open Sans Bold"/>
                <a:sym typeface="Open Sans Bold"/>
              </a:rPr>
              <a:t>CPU</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Memory</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Disk</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GPU</a:t>
            </a:r>
          </a:p>
          <a:p>
            <a:pPr algn="l">
              <a:lnSpc>
                <a:spcPts val="3653"/>
              </a:lnSpc>
              <a:spcBef>
                <a:spcPct val="0"/>
              </a:spcBef>
            </a:pP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Hardware resource monitoring</a:t>
            </a:r>
          </a:p>
        </p:txBody>
      </p:sp>
      <p:grpSp>
        <p:nvGrpSpPr>
          <p:cNvPr name="Group 12" id="12"/>
          <p:cNvGrpSpPr/>
          <p:nvPr/>
        </p:nvGrpSpPr>
        <p:grpSpPr>
          <a:xfrm rot="-8457765">
            <a:off x="-425717" y="-9272866"/>
            <a:ext cx="19140231" cy="1914023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14" id="14"/>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5" id="15"/>
          <p:cNvGrpSpPr/>
          <p:nvPr/>
        </p:nvGrpSpPr>
        <p:grpSpPr>
          <a:xfrm rot="-8457765">
            <a:off x="2148368" y="-6538878"/>
            <a:ext cx="13929461" cy="139294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17" id="17"/>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false" flipV="false" rot="0">
            <a:off x="5352081" y="240640"/>
            <a:ext cx="11301259" cy="5255085"/>
          </a:xfrm>
          <a:custGeom>
            <a:avLst/>
            <a:gdLst/>
            <a:ahLst/>
            <a:cxnLst/>
            <a:rect r="r" b="b" t="t" l="l"/>
            <a:pathLst>
              <a:path h="5255085" w="11301259">
                <a:moveTo>
                  <a:pt x="0" y="0"/>
                </a:moveTo>
                <a:lnTo>
                  <a:pt x="11301259" y="0"/>
                </a:lnTo>
                <a:lnTo>
                  <a:pt x="11301259" y="5255085"/>
                </a:lnTo>
                <a:lnTo>
                  <a:pt x="0" y="5255085"/>
                </a:lnTo>
                <a:lnTo>
                  <a:pt x="0" y="0"/>
                </a:lnTo>
                <a:close/>
              </a:path>
            </a:pathLst>
          </a:custGeom>
          <a:blipFill>
            <a:blip r:embed="rId2"/>
            <a:stretch>
              <a:fillRect l="0" t="0" r="0" b="0"/>
            </a:stretch>
          </a:blipFill>
        </p:spPr>
      </p:sp>
      <p:sp>
        <p:nvSpPr>
          <p:cNvPr name="Freeform 3" id="3"/>
          <p:cNvSpPr/>
          <p:nvPr/>
        </p:nvSpPr>
        <p:spPr>
          <a:xfrm flipH="false" flipV="false" rot="0">
            <a:off x="5352081" y="5776300"/>
            <a:ext cx="11301259" cy="4387078"/>
          </a:xfrm>
          <a:custGeom>
            <a:avLst/>
            <a:gdLst/>
            <a:ahLst/>
            <a:cxnLst/>
            <a:rect r="r" b="b" t="t" l="l"/>
            <a:pathLst>
              <a:path h="4387078" w="11301259">
                <a:moveTo>
                  <a:pt x="0" y="0"/>
                </a:moveTo>
                <a:lnTo>
                  <a:pt x="11301259" y="0"/>
                </a:lnTo>
                <a:lnTo>
                  <a:pt x="11301259" y="4387078"/>
                </a:lnTo>
                <a:lnTo>
                  <a:pt x="0" y="4387078"/>
                </a:lnTo>
                <a:lnTo>
                  <a:pt x="0" y="0"/>
                </a:lnTo>
                <a:close/>
              </a:path>
            </a:pathLst>
          </a:custGeom>
          <a:blipFill>
            <a:blip r:embed="rId3"/>
            <a:stretch>
              <a:fillRect l="0" t="0" r="0" b="-17531"/>
            </a:stretch>
          </a:blipFill>
        </p:spPr>
      </p:sp>
      <p:sp>
        <p:nvSpPr>
          <p:cNvPr name="TextBox 4" id="4"/>
          <p:cNvSpPr txBox="true"/>
          <p:nvPr/>
        </p:nvSpPr>
        <p:spPr>
          <a:xfrm rot="0">
            <a:off x="386516" y="483399"/>
            <a:ext cx="4644357" cy="2734065"/>
          </a:xfrm>
          <a:prstGeom prst="rect">
            <a:avLst/>
          </a:prstGeom>
        </p:spPr>
        <p:txBody>
          <a:bodyPr anchor="t" rtlCol="false" tIns="0" lIns="0" bIns="0" rIns="0">
            <a:spAutoFit/>
          </a:bodyPr>
          <a:lstStyle/>
          <a:p>
            <a:pPr algn="l">
              <a:lnSpc>
                <a:spcPts val="3653"/>
              </a:lnSpc>
              <a:spcBef>
                <a:spcPct val="0"/>
              </a:spcBef>
            </a:pPr>
            <a:r>
              <a:rPr lang="en-US" b="true" sz="2609" spc="-195">
                <a:solidFill>
                  <a:srgbClr val="FFFFFF"/>
                </a:solidFill>
                <a:latin typeface="Open Sans Bold"/>
                <a:ea typeface="Open Sans Bold"/>
                <a:cs typeface="Open Sans Bold"/>
                <a:sym typeface="Open Sans Bold"/>
              </a:rPr>
              <a:t>Shows:</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Click to block</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Ask to connect (Premium)</a:t>
            </a:r>
          </a:p>
          <a:p>
            <a:pPr algn="l">
              <a:lnSpc>
                <a:spcPts val="3653"/>
              </a:lnSpc>
              <a:spcBef>
                <a:spcPct val="0"/>
              </a:spcBef>
            </a:pP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Firewall mode limitation in free version</a:t>
            </a:r>
          </a:p>
        </p:txBody>
      </p:sp>
      <p:sp>
        <p:nvSpPr>
          <p:cNvPr name="TextBox 5" id="5"/>
          <p:cNvSpPr txBox="true"/>
          <p:nvPr/>
        </p:nvSpPr>
        <p:spPr>
          <a:xfrm rot="0">
            <a:off x="386516" y="7485637"/>
            <a:ext cx="4644357" cy="1362465"/>
          </a:xfrm>
          <a:prstGeom prst="rect">
            <a:avLst/>
          </a:prstGeom>
        </p:spPr>
        <p:txBody>
          <a:bodyPr anchor="t" rtlCol="false" tIns="0" lIns="0" bIns="0" rIns="0">
            <a:spAutoFit/>
          </a:bodyPr>
          <a:lstStyle/>
          <a:p>
            <a:pPr algn="l">
              <a:lnSpc>
                <a:spcPts val="3653"/>
              </a:lnSpc>
              <a:spcBef>
                <a:spcPct val="0"/>
              </a:spcBef>
            </a:pPr>
            <a:r>
              <a:rPr lang="en-US" b="true" sz="2609" spc="-195">
                <a:solidFill>
                  <a:srgbClr val="FFFFFF"/>
                </a:solidFill>
                <a:latin typeface="Open Sans Bold"/>
                <a:ea typeface="Open Sans Bold"/>
                <a:cs typeface="Open Sans Bold"/>
                <a:sym typeface="Open Sans Bold"/>
              </a:rPr>
              <a:t>Ne</a:t>
            </a:r>
            <a:r>
              <a:rPr lang="en-US" b="true" sz="2609" spc="-195">
                <a:solidFill>
                  <a:srgbClr val="FFFFFF"/>
                </a:solidFill>
                <a:latin typeface="Open Sans Bold"/>
                <a:ea typeface="Open Sans Bold"/>
                <a:cs typeface="Open Sans Bold"/>
                <a:sym typeface="Open Sans Bold"/>
              </a:rPr>
              <a:t>twork scanner showing connected devices</a:t>
            </a:r>
          </a:p>
          <a:p>
            <a:pPr algn="l">
              <a:lnSpc>
                <a:spcPts val="3653"/>
              </a:lnSpc>
              <a:spcBef>
                <a:spcPct val="0"/>
              </a:spcBef>
            </a:pPr>
          </a:p>
        </p:txBody>
      </p:sp>
      <p:grpSp>
        <p:nvGrpSpPr>
          <p:cNvPr name="Group 6" id="6"/>
          <p:cNvGrpSpPr/>
          <p:nvPr/>
        </p:nvGrpSpPr>
        <p:grpSpPr>
          <a:xfrm rot="-8457765">
            <a:off x="-425717" y="-9272866"/>
            <a:ext cx="19140231" cy="191402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8" id="8"/>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9" id="9"/>
          <p:cNvGrpSpPr/>
          <p:nvPr/>
        </p:nvGrpSpPr>
        <p:grpSpPr>
          <a:xfrm rot="-8457765">
            <a:off x="2148368" y="-6538878"/>
            <a:ext cx="13929461" cy="139294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6A367A"/>
        </a:solidFill>
      </p:bgPr>
    </p:bg>
    <p:spTree>
      <p:nvGrpSpPr>
        <p:cNvPr id="1" name=""/>
        <p:cNvGrpSpPr/>
        <p:nvPr/>
      </p:nvGrpSpPr>
      <p:grpSpPr>
        <a:xfrm>
          <a:off x="0" y="0"/>
          <a:ext cx="0" cy="0"/>
          <a:chOff x="0" y="0"/>
          <a:chExt cx="0" cy="0"/>
        </a:xfrm>
      </p:grpSpPr>
      <p:grpSp>
        <p:nvGrpSpPr>
          <p:cNvPr name="Group 2" id="2"/>
          <p:cNvGrpSpPr/>
          <p:nvPr/>
        </p:nvGrpSpPr>
        <p:grpSpPr>
          <a:xfrm rot="0">
            <a:off x="9360330" y="1722676"/>
            <a:ext cx="5608917" cy="6841647"/>
            <a:chOff x="0" y="0"/>
            <a:chExt cx="2111211" cy="2575214"/>
          </a:xfrm>
        </p:grpSpPr>
        <p:sp>
          <p:nvSpPr>
            <p:cNvPr name="Freeform 3" id="3"/>
            <p:cNvSpPr/>
            <p:nvPr/>
          </p:nvSpPr>
          <p:spPr>
            <a:xfrm flipH="false" flipV="false" rot="0">
              <a:off x="0" y="0"/>
              <a:ext cx="2111211" cy="2575214"/>
            </a:xfrm>
            <a:custGeom>
              <a:avLst/>
              <a:gdLst/>
              <a:ahLst/>
              <a:cxnLst/>
              <a:rect r="r" b="b" t="t" l="l"/>
              <a:pathLst>
                <a:path h="2575214" w="2111211">
                  <a:moveTo>
                    <a:pt x="70395" y="0"/>
                  </a:moveTo>
                  <a:lnTo>
                    <a:pt x="2040816" y="0"/>
                  </a:lnTo>
                  <a:cubicBezTo>
                    <a:pt x="2079694" y="0"/>
                    <a:pt x="2111211" y="31517"/>
                    <a:pt x="2111211" y="70395"/>
                  </a:cubicBezTo>
                  <a:lnTo>
                    <a:pt x="2111211" y="2504819"/>
                  </a:lnTo>
                  <a:cubicBezTo>
                    <a:pt x="2111211" y="2543697"/>
                    <a:pt x="2079694" y="2575214"/>
                    <a:pt x="2040816" y="2575214"/>
                  </a:cubicBezTo>
                  <a:lnTo>
                    <a:pt x="70395" y="2575214"/>
                  </a:lnTo>
                  <a:cubicBezTo>
                    <a:pt x="31517" y="2575214"/>
                    <a:pt x="0" y="2543697"/>
                    <a:pt x="0" y="2504819"/>
                  </a:cubicBezTo>
                  <a:lnTo>
                    <a:pt x="0" y="70395"/>
                  </a:lnTo>
                  <a:cubicBezTo>
                    <a:pt x="0" y="31517"/>
                    <a:pt x="31517" y="0"/>
                    <a:pt x="70395" y="0"/>
                  </a:cubicBezTo>
                  <a:close/>
                </a:path>
              </a:pathLst>
            </a:custGeom>
            <a:gradFill rotWithShape="true">
              <a:gsLst>
                <a:gs pos="0">
                  <a:srgbClr val="F5B4FF">
                    <a:alpha val="100000"/>
                  </a:srgbClr>
                </a:gs>
                <a:gs pos="100000">
                  <a:srgbClr val="E393EF">
                    <a:alpha val="100000"/>
                  </a:srgbClr>
                </a:gs>
              </a:gsLst>
              <a:lin ang="0"/>
            </a:gradFill>
            <a:ln w="19050" cap="rnd">
              <a:solidFill>
                <a:srgbClr val="FFFFFF"/>
              </a:solidFill>
              <a:prstDash val="solid"/>
              <a:round/>
            </a:ln>
          </p:spPr>
        </p:sp>
        <p:sp>
          <p:nvSpPr>
            <p:cNvPr name="TextBox 4" id="4"/>
            <p:cNvSpPr txBox="true"/>
            <p:nvPr/>
          </p:nvSpPr>
          <p:spPr>
            <a:xfrm>
              <a:off x="0" y="85725"/>
              <a:ext cx="2111211" cy="2489489"/>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5" id="5"/>
          <p:cNvSpPr txBox="true"/>
          <p:nvPr/>
        </p:nvSpPr>
        <p:spPr>
          <a:xfrm rot="0">
            <a:off x="9625099" y="1802887"/>
            <a:ext cx="5344147" cy="6614550"/>
          </a:xfrm>
          <a:prstGeom prst="rect">
            <a:avLst/>
          </a:prstGeom>
        </p:spPr>
        <p:txBody>
          <a:bodyPr anchor="t" rtlCol="false" tIns="0" lIns="0" bIns="0" rIns="0">
            <a:spAutoFit/>
          </a:bodyPr>
          <a:lstStyle/>
          <a:p>
            <a:pPr algn="l">
              <a:lnSpc>
                <a:spcPts val="4913"/>
              </a:lnSpc>
              <a:spcBef>
                <a:spcPct val="0"/>
              </a:spcBef>
            </a:pPr>
            <a:r>
              <a:rPr lang="en-US" b="true" sz="3509" spc="-263">
                <a:solidFill>
                  <a:srgbClr val="0E0637"/>
                </a:solidFill>
                <a:latin typeface="Open Sans Bold"/>
                <a:ea typeface="Open Sans Bold"/>
                <a:cs typeface="Open Sans Bold"/>
                <a:sym typeface="Open Sans Bold"/>
              </a:rPr>
              <a:t>Analysis of Outcome</a:t>
            </a:r>
          </a:p>
          <a:p>
            <a:pPr algn="l">
              <a:lnSpc>
                <a:spcPts val="4913"/>
              </a:lnSpc>
              <a:spcBef>
                <a:spcPct val="0"/>
              </a:spcBef>
            </a:pPr>
            <a:r>
              <a:rPr lang="en-US" b="true" sz="3509" spc="-263">
                <a:solidFill>
                  <a:srgbClr val="0E0637"/>
                </a:solidFill>
                <a:latin typeface="Open Sans Bold"/>
                <a:ea typeface="Open Sans Bold"/>
                <a:cs typeface="Open Sans Bold"/>
                <a:sym typeface="Open Sans Bold"/>
              </a:rPr>
              <a:t>GlassWire successfully:</a:t>
            </a:r>
          </a:p>
          <a:p>
            <a:pPr algn="l">
              <a:lnSpc>
                <a:spcPts val="1973"/>
              </a:lnSpc>
              <a:spcBef>
                <a:spcPct val="0"/>
              </a:spcBef>
            </a:pPr>
          </a:p>
          <a:p>
            <a:pPr algn="l">
              <a:lnSpc>
                <a:spcPts val="4073"/>
              </a:lnSpc>
              <a:spcBef>
                <a:spcPct val="0"/>
              </a:spcBef>
            </a:pPr>
            <a:r>
              <a:rPr lang="en-US" b="true" sz="2909" spc="-218">
                <a:solidFill>
                  <a:srgbClr val="0E0637"/>
                </a:solidFill>
                <a:latin typeface="Open Sans Bold"/>
                <a:ea typeface="Open Sans Bold"/>
                <a:cs typeface="Open Sans Bold"/>
                <a:sym typeface="Open Sans Bold"/>
              </a:rPr>
              <a:t>• Detected first-time network activity</a:t>
            </a:r>
          </a:p>
          <a:p>
            <a:pPr algn="l">
              <a:lnSpc>
                <a:spcPts val="4073"/>
              </a:lnSpc>
              <a:spcBef>
                <a:spcPct val="0"/>
              </a:spcBef>
            </a:pPr>
            <a:r>
              <a:rPr lang="en-US" b="true" sz="2909" spc="-218">
                <a:solidFill>
                  <a:srgbClr val="0E0637"/>
                </a:solidFill>
                <a:latin typeface="Open Sans Bold"/>
                <a:ea typeface="Open Sans Bold"/>
                <a:cs typeface="Open Sans Bold"/>
                <a:sym typeface="Open Sans Bold"/>
              </a:rPr>
              <a:t> • Monitored real-time traffic</a:t>
            </a:r>
          </a:p>
          <a:p>
            <a:pPr algn="l">
              <a:lnSpc>
                <a:spcPts val="4073"/>
              </a:lnSpc>
              <a:spcBef>
                <a:spcPct val="0"/>
              </a:spcBef>
            </a:pPr>
            <a:r>
              <a:rPr lang="en-US" b="true" sz="2909" spc="-218">
                <a:solidFill>
                  <a:srgbClr val="0E0637"/>
                </a:solidFill>
                <a:latin typeface="Open Sans Bold"/>
                <a:ea typeface="Open Sans Bold"/>
                <a:cs typeface="Open Sans Bold"/>
                <a:sym typeface="Open Sans Bold"/>
              </a:rPr>
              <a:t> • Identified high bandwidth apps</a:t>
            </a:r>
          </a:p>
          <a:p>
            <a:pPr algn="l">
              <a:lnSpc>
                <a:spcPts val="4073"/>
              </a:lnSpc>
              <a:spcBef>
                <a:spcPct val="0"/>
              </a:spcBef>
            </a:pPr>
            <a:r>
              <a:rPr lang="en-US" b="true" sz="2909" spc="-218">
                <a:solidFill>
                  <a:srgbClr val="0E0637"/>
                </a:solidFill>
                <a:latin typeface="Open Sans Bold"/>
                <a:ea typeface="Open Sans Bold"/>
                <a:cs typeface="Open Sans Bold"/>
                <a:sym typeface="Open Sans Bold"/>
              </a:rPr>
              <a:t> • Displayed host-level information</a:t>
            </a:r>
          </a:p>
          <a:p>
            <a:pPr algn="l">
              <a:lnSpc>
                <a:spcPts val="4073"/>
              </a:lnSpc>
              <a:spcBef>
                <a:spcPct val="0"/>
              </a:spcBef>
            </a:pPr>
            <a:r>
              <a:rPr lang="en-US" b="true" sz="2909" spc="-218">
                <a:solidFill>
                  <a:srgbClr val="0E0637"/>
                </a:solidFill>
                <a:latin typeface="Open Sans Bold"/>
                <a:ea typeface="Open Sans Bold"/>
                <a:cs typeface="Open Sans Bold"/>
                <a:sym typeface="Open Sans Bold"/>
              </a:rPr>
              <a:t> • Detected local network devices</a:t>
            </a:r>
          </a:p>
          <a:p>
            <a:pPr algn="l">
              <a:lnSpc>
                <a:spcPts val="4073"/>
              </a:lnSpc>
              <a:spcBef>
                <a:spcPct val="0"/>
              </a:spcBef>
            </a:pPr>
            <a:r>
              <a:rPr lang="en-US" b="true" sz="2909" spc="-218">
                <a:solidFill>
                  <a:srgbClr val="0E0637"/>
                </a:solidFill>
                <a:latin typeface="Open Sans Bold"/>
                <a:ea typeface="Open Sans Bold"/>
                <a:cs typeface="Open Sans Bold"/>
                <a:sym typeface="Open Sans Bold"/>
              </a:rPr>
              <a:t> • Provided hardware monitoring</a:t>
            </a:r>
          </a:p>
          <a:p>
            <a:pPr algn="l">
              <a:lnSpc>
                <a:spcPts val="4073"/>
              </a:lnSpc>
              <a:spcBef>
                <a:spcPct val="0"/>
              </a:spcBef>
            </a:pPr>
            <a:r>
              <a:rPr lang="en-US" b="true" sz="2909" spc="-218">
                <a:solidFill>
                  <a:srgbClr val="0E0637"/>
                </a:solidFill>
                <a:latin typeface="Open Sans Bold"/>
                <a:ea typeface="Open Sans Bold"/>
                <a:cs typeface="Open Sans Bold"/>
                <a:sym typeface="Open Sans Bold"/>
              </a:rPr>
              <a:t>GlassWire improves security visibility and monitoring.</a:t>
            </a:r>
          </a:p>
        </p:txBody>
      </p:sp>
      <p:grpSp>
        <p:nvGrpSpPr>
          <p:cNvPr name="Group 6" id="6"/>
          <p:cNvGrpSpPr/>
          <p:nvPr/>
        </p:nvGrpSpPr>
        <p:grpSpPr>
          <a:xfrm rot="0">
            <a:off x="2119509" y="1722676"/>
            <a:ext cx="5608917" cy="6841647"/>
            <a:chOff x="0" y="0"/>
            <a:chExt cx="2111211" cy="2575214"/>
          </a:xfrm>
        </p:grpSpPr>
        <p:sp>
          <p:nvSpPr>
            <p:cNvPr name="Freeform 7" id="7"/>
            <p:cNvSpPr/>
            <p:nvPr/>
          </p:nvSpPr>
          <p:spPr>
            <a:xfrm flipH="false" flipV="false" rot="0">
              <a:off x="0" y="0"/>
              <a:ext cx="2111211" cy="2575214"/>
            </a:xfrm>
            <a:custGeom>
              <a:avLst/>
              <a:gdLst/>
              <a:ahLst/>
              <a:cxnLst/>
              <a:rect r="r" b="b" t="t" l="l"/>
              <a:pathLst>
                <a:path h="2575214" w="2111211">
                  <a:moveTo>
                    <a:pt x="70395" y="0"/>
                  </a:moveTo>
                  <a:lnTo>
                    <a:pt x="2040816" y="0"/>
                  </a:lnTo>
                  <a:cubicBezTo>
                    <a:pt x="2079694" y="0"/>
                    <a:pt x="2111211" y="31517"/>
                    <a:pt x="2111211" y="70395"/>
                  </a:cubicBezTo>
                  <a:lnTo>
                    <a:pt x="2111211" y="2504819"/>
                  </a:lnTo>
                  <a:cubicBezTo>
                    <a:pt x="2111211" y="2543697"/>
                    <a:pt x="2079694" y="2575214"/>
                    <a:pt x="2040816" y="2575214"/>
                  </a:cubicBezTo>
                  <a:lnTo>
                    <a:pt x="70395" y="2575214"/>
                  </a:lnTo>
                  <a:cubicBezTo>
                    <a:pt x="31517" y="2575214"/>
                    <a:pt x="0" y="2543697"/>
                    <a:pt x="0" y="2504819"/>
                  </a:cubicBezTo>
                  <a:lnTo>
                    <a:pt x="0" y="70395"/>
                  </a:lnTo>
                  <a:cubicBezTo>
                    <a:pt x="0" y="31517"/>
                    <a:pt x="31517" y="0"/>
                    <a:pt x="70395" y="0"/>
                  </a:cubicBezTo>
                  <a:close/>
                </a:path>
              </a:pathLst>
            </a:custGeom>
            <a:gradFill rotWithShape="true">
              <a:gsLst>
                <a:gs pos="0">
                  <a:srgbClr val="F5B4FF">
                    <a:alpha val="100000"/>
                  </a:srgbClr>
                </a:gs>
                <a:gs pos="100000">
                  <a:srgbClr val="E393EF">
                    <a:alpha val="100000"/>
                  </a:srgbClr>
                </a:gs>
              </a:gsLst>
              <a:lin ang="0"/>
            </a:gradFill>
            <a:ln w="19050" cap="rnd">
              <a:solidFill>
                <a:srgbClr val="FFFFFF"/>
              </a:solidFill>
              <a:prstDash val="solid"/>
              <a:round/>
            </a:ln>
          </p:spPr>
        </p:sp>
        <p:sp>
          <p:nvSpPr>
            <p:cNvPr name="TextBox 8" id="8"/>
            <p:cNvSpPr txBox="true"/>
            <p:nvPr/>
          </p:nvSpPr>
          <p:spPr>
            <a:xfrm>
              <a:off x="0" y="85725"/>
              <a:ext cx="2111211" cy="2489489"/>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9" id="9"/>
          <p:cNvSpPr txBox="true"/>
          <p:nvPr/>
        </p:nvSpPr>
        <p:spPr>
          <a:xfrm rot="0">
            <a:off x="2525981" y="1966082"/>
            <a:ext cx="4795972" cy="6288160"/>
          </a:xfrm>
          <a:prstGeom prst="rect">
            <a:avLst/>
          </a:prstGeom>
        </p:spPr>
        <p:txBody>
          <a:bodyPr anchor="t" rtlCol="false" tIns="0" lIns="0" bIns="0" rIns="0">
            <a:spAutoFit/>
          </a:bodyPr>
          <a:lstStyle/>
          <a:p>
            <a:pPr algn="l">
              <a:lnSpc>
                <a:spcPts val="5053"/>
              </a:lnSpc>
              <a:spcBef>
                <a:spcPct val="0"/>
              </a:spcBef>
            </a:pPr>
            <a:r>
              <a:rPr lang="en-US" b="true" sz="3609" spc="-270">
                <a:solidFill>
                  <a:srgbClr val="0E0637"/>
                </a:solidFill>
                <a:latin typeface="Open Sans Bold"/>
                <a:ea typeface="Open Sans Bold"/>
                <a:cs typeface="Open Sans Bold"/>
                <a:sym typeface="Open Sans Bold"/>
              </a:rPr>
              <a:t>Observed Results</a:t>
            </a:r>
          </a:p>
          <a:p>
            <a:pPr algn="l">
              <a:lnSpc>
                <a:spcPts val="5053"/>
              </a:lnSpc>
              <a:spcBef>
                <a:spcPct val="0"/>
              </a:spcBef>
            </a:pPr>
            <a:r>
              <a:rPr lang="en-US" b="true" sz="3609" spc="-270">
                <a:solidFill>
                  <a:srgbClr val="0E0637"/>
                </a:solidFill>
                <a:latin typeface="Open Sans Bold"/>
                <a:ea typeface="Open Sans Bold"/>
                <a:cs typeface="Open Sans Bold"/>
                <a:sym typeface="Open Sans Bold"/>
              </a:rPr>
              <a:t>Key Observations:</a:t>
            </a:r>
          </a:p>
          <a:p>
            <a:pPr algn="l">
              <a:lnSpc>
                <a:spcPts val="1833"/>
              </a:lnSpc>
              <a:spcBef>
                <a:spcPct val="0"/>
              </a:spcBef>
            </a:pPr>
          </a:p>
          <a:p>
            <a:pPr algn="l">
              <a:lnSpc>
                <a:spcPts val="4213"/>
              </a:lnSpc>
              <a:spcBef>
                <a:spcPct val="0"/>
              </a:spcBef>
            </a:pPr>
            <a:r>
              <a:rPr lang="en-US" b="true" sz="3009" spc="-225">
                <a:solidFill>
                  <a:srgbClr val="0E0637"/>
                </a:solidFill>
                <a:latin typeface="Open Sans Bold"/>
                <a:ea typeface="Open Sans Bold"/>
                <a:cs typeface="Open Sans Bold"/>
                <a:sym typeface="Open Sans Bold"/>
              </a:rPr>
              <a:t>• Google Chrome highest bandwidth usage</a:t>
            </a:r>
          </a:p>
          <a:p>
            <a:pPr algn="l">
              <a:lnSpc>
                <a:spcPts val="4213"/>
              </a:lnSpc>
              <a:spcBef>
                <a:spcPct val="0"/>
              </a:spcBef>
            </a:pPr>
            <a:r>
              <a:rPr lang="en-US" b="true" sz="3009" spc="-225">
                <a:solidFill>
                  <a:srgbClr val="0E0637"/>
                </a:solidFill>
                <a:latin typeface="Open Sans Bold"/>
                <a:ea typeface="Open Sans Bold"/>
                <a:cs typeface="Open Sans Bold"/>
                <a:sym typeface="Open Sans Bold"/>
              </a:rPr>
              <a:t> • YouTube-related hosts detected</a:t>
            </a:r>
          </a:p>
          <a:p>
            <a:pPr algn="l">
              <a:lnSpc>
                <a:spcPts val="4213"/>
              </a:lnSpc>
              <a:spcBef>
                <a:spcPct val="0"/>
              </a:spcBef>
            </a:pPr>
            <a:r>
              <a:rPr lang="en-US" b="true" sz="3009" spc="-225">
                <a:solidFill>
                  <a:srgbClr val="0E0637"/>
                </a:solidFill>
                <a:latin typeface="Open Sans Bold"/>
                <a:ea typeface="Open Sans Bold"/>
                <a:cs typeface="Open Sans Bold"/>
                <a:sym typeface="Open Sans Bold"/>
              </a:rPr>
              <a:t> • Country-wise traffic displayed</a:t>
            </a:r>
          </a:p>
          <a:p>
            <a:pPr algn="l">
              <a:lnSpc>
                <a:spcPts val="4213"/>
              </a:lnSpc>
              <a:spcBef>
                <a:spcPct val="0"/>
              </a:spcBef>
            </a:pPr>
            <a:r>
              <a:rPr lang="en-US" b="true" sz="3009" spc="-225">
                <a:solidFill>
                  <a:srgbClr val="0E0637"/>
                </a:solidFill>
                <a:latin typeface="Open Sans Bold"/>
                <a:ea typeface="Open Sans Bold"/>
                <a:cs typeface="Open Sans Bold"/>
                <a:sym typeface="Open Sans Bold"/>
              </a:rPr>
              <a:t> • Multiple devices detected on network</a:t>
            </a:r>
          </a:p>
          <a:p>
            <a:pPr algn="l">
              <a:lnSpc>
                <a:spcPts val="4213"/>
              </a:lnSpc>
              <a:spcBef>
                <a:spcPct val="0"/>
              </a:spcBef>
            </a:pPr>
            <a:r>
              <a:rPr lang="en-US" b="true" sz="3009" spc="-225">
                <a:solidFill>
                  <a:srgbClr val="0E0637"/>
                </a:solidFill>
                <a:latin typeface="Open Sans Bold"/>
                <a:ea typeface="Open Sans Bold"/>
                <a:cs typeface="Open Sans Bold"/>
                <a:sym typeface="Open Sans Bold"/>
              </a:rPr>
              <a:t> • Real-time alerts generated</a:t>
            </a:r>
          </a:p>
        </p:txBody>
      </p:sp>
      <p:grpSp>
        <p:nvGrpSpPr>
          <p:cNvPr name="Group 10" id="10"/>
          <p:cNvGrpSpPr/>
          <p:nvPr/>
        </p:nvGrpSpPr>
        <p:grpSpPr>
          <a:xfrm rot="-8457765">
            <a:off x="-425717" y="-9272866"/>
            <a:ext cx="19140231" cy="1914023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12" id="12"/>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3" id="13"/>
          <p:cNvGrpSpPr/>
          <p:nvPr/>
        </p:nvGrpSpPr>
        <p:grpSpPr>
          <a:xfrm rot="-8457765">
            <a:off x="2148368" y="-6538878"/>
            <a:ext cx="13929461" cy="1392946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15" id="15"/>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Tree>
  </p:cSld>
  <p:clrMapOvr>
    <a:masterClrMapping/>
  </p:clrMapOvr>
</p:sld>
</file>

<file path=ppt/slides/slide13.xml><?xml version="1.0" encoding="utf-8"?>
<p:sld xmlns:p="http://schemas.openxmlformats.org/presentationml/2006/main" xmlns:a="http://schemas.openxmlformats.org/drawingml/2006/main">
  <p:cSld>
    <p:bg>
      <p:bgPr>
        <a:solidFill>
          <a:srgbClr val="6A367A"/>
        </a:solidFill>
      </p:bgPr>
    </p:bg>
    <p:spTree>
      <p:nvGrpSpPr>
        <p:cNvPr id="1" name=""/>
        <p:cNvGrpSpPr/>
        <p:nvPr/>
      </p:nvGrpSpPr>
      <p:grpSpPr>
        <a:xfrm>
          <a:off x="0" y="0"/>
          <a:ext cx="0" cy="0"/>
          <a:chOff x="0" y="0"/>
          <a:chExt cx="0" cy="0"/>
        </a:xfrm>
      </p:grpSpPr>
      <p:sp>
        <p:nvSpPr>
          <p:cNvPr name="TextBox 2" id="2"/>
          <p:cNvSpPr txBox="true"/>
          <p:nvPr/>
        </p:nvSpPr>
        <p:spPr>
          <a:xfrm rot="0">
            <a:off x="514350" y="261107"/>
            <a:ext cx="17259300" cy="9660011"/>
          </a:xfrm>
          <a:prstGeom prst="rect">
            <a:avLst/>
          </a:prstGeom>
        </p:spPr>
        <p:txBody>
          <a:bodyPr anchor="t" rtlCol="false" tIns="0" lIns="0" bIns="0" rIns="0">
            <a:spAutoFit/>
          </a:bodyPr>
          <a:lstStyle/>
          <a:p>
            <a:pPr algn="ctr">
              <a:lnSpc>
                <a:spcPts val="7713"/>
              </a:lnSpc>
              <a:spcBef>
                <a:spcPct val="0"/>
              </a:spcBef>
            </a:pPr>
            <a:r>
              <a:rPr lang="en-US" b="true" sz="5509" spc="-413">
                <a:solidFill>
                  <a:srgbClr val="FFFFFF"/>
                </a:solidFill>
                <a:latin typeface="Open Sans Bold"/>
                <a:ea typeface="Open Sans Bold"/>
                <a:cs typeface="Open Sans Bold"/>
                <a:sym typeface="Open Sans Bold"/>
              </a:rPr>
              <a:t>Conclusion</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The experiment successfully demonstrated GlassWire as an effective network monitoring and security analysis tool. It provided clear visibility into system network behavior, application activity, and connected devices, helping improve overall security awareness.</a:t>
            </a:r>
          </a:p>
          <a:p>
            <a:pPr algn="l">
              <a:lnSpc>
                <a:spcPts val="3653"/>
              </a:lnSpc>
              <a:spcBef>
                <a:spcPct val="0"/>
              </a:spcBef>
            </a:pP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Key outcomes of the experiment include:</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Real-time network traffic monitoring</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Application-wise bandwidth usage analysis</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Host and country-level traffic visibility</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Alerts for first-time network activity</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Detection of devices connected to local network</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Firewall connection monitoring</a:t>
            </a: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 Hardware resource monitoring</a:t>
            </a:r>
          </a:p>
          <a:p>
            <a:pPr algn="l">
              <a:lnSpc>
                <a:spcPts val="3653"/>
              </a:lnSpc>
              <a:spcBef>
                <a:spcPct val="0"/>
              </a:spcBef>
            </a:pP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Google Chrome was observed as the highest bandwidth-consuming application, mainly due to browsing and video streaming activity. GlassWire also detected multiple applications initiating first-time network connections and identified several devices connected to the Wi-Fi network.</a:t>
            </a:r>
          </a:p>
          <a:p>
            <a:pPr algn="l">
              <a:lnSpc>
                <a:spcPts val="3653"/>
              </a:lnSpc>
              <a:spcBef>
                <a:spcPct val="0"/>
              </a:spcBef>
            </a:pPr>
          </a:p>
          <a:p>
            <a:pPr algn="l">
              <a:lnSpc>
                <a:spcPts val="3653"/>
              </a:lnSpc>
              <a:spcBef>
                <a:spcPct val="0"/>
              </a:spcBef>
            </a:pPr>
            <a:r>
              <a:rPr lang="en-US" b="true" sz="2609" spc="-195">
                <a:solidFill>
                  <a:srgbClr val="FFFFFF"/>
                </a:solidFill>
                <a:latin typeface="Open Sans Bold"/>
                <a:ea typeface="Open Sans Bold"/>
                <a:cs typeface="Open Sans Bold"/>
                <a:sym typeface="Open Sans Bold"/>
              </a:rPr>
              <a:t>Overall, GlassWire proved to be a useful tool for network monitoring, application behavior analysis, and security awareness, making it suitable for educational demonstrations and Network Information Security analysis.</a:t>
            </a:r>
          </a:p>
        </p:txBody>
      </p:sp>
      <p:grpSp>
        <p:nvGrpSpPr>
          <p:cNvPr name="Group 3" id="3"/>
          <p:cNvGrpSpPr/>
          <p:nvPr/>
        </p:nvGrpSpPr>
        <p:grpSpPr>
          <a:xfrm rot="-8457765">
            <a:off x="-425717" y="-9272866"/>
            <a:ext cx="19140231" cy="1914023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8457765">
            <a:off x="2148368" y="-6538878"/>
            <a:ext cx="13929461" cy="139294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DAHFfiqDWEg</dc:identifier>
  <dcterms:modified xsi:type="dcterms:W3CDTF">2011-08-01T06:04:30Z</dcterms:modified>
  <cp:revision>1</cp:revision>
  <dc:title>Study &amp; Demonstration of GlassWire: Network Monitoring and Security Analysis Subject: Network Information Security Group Members: Anushri Bhaskarwar 16010123055 Siddhant Mane 16010123058 Akshat Kunder 16010123033</dc:title>
</cp:coreProperties>
</file>